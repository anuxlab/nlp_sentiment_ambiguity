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TF-IDF + LogReg</c:v>
                </c:pt>
              </c:strCache>
            </c:strRef>
          </c:tx>
          <c:spPr>
            <a:solidFill>
              <a:srgbClr val="7F7F7F"/>
            </a:solidFill>
            <a:ln w="31750" cap="flat">
              <a:solidFill>
                <a:srgbClr val="7F7F7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7F7F7F"/>
              </a:solidFill>
              <a:ln w="9525" cap="flat">
                <a:solidFill>
                  <a:srgbClr val="7F7F7F"/>
                </a:solidFill>
                <a:prstDash val="solid"/>
                <a:round/>
              </a:ln>
              <a:effectLst/>
            </c:spPr>
          </c:marker>
          <c:cat>
            <c:multiLvlStrRef>
              <c:f>Sheet1!$A$2:$A$6</c:f>
              <c:multiLvlStrCache>
                <c:ptCount val="5"/>
                <c:lvl>
                  <c:pt idx="0">
                    <c:v>100</c:v>
                  </c:pt>
                  <c:pt idx="1">
                    <c:v>300</c:v>
                  </c:pt>
                  <c:pt idx="2">
                    <c:v>1000</c:v>
                  </c:pt>
                  <c:pt idx="3">
                    <c:v>3000</c:v>
                  </c:pt>
                  <c:pt idx="4">
                    <c:v>6920</c:v>
                  </c:pt>
                </c:lvl>
              </c:multiLvlStrCache>
            </c:multiLvlStrRef>
          </c:cat>
          <c:val>
            <c:numRef>
              <c:f>Sheet1!$B$2:$B$6</c:f>
              <c:numCache>
                <c:formatCode>General</c:formatCode>
                <c:ptCount val="5"/>
                <c:pt idx="0">
                  <c:v>57.9</c:v>
                </c:pt>
                <c:pt idx="1">
                  <c:v>63.2</c:v>
                </c:pt>
                <c:pt idx="2">
                  <c:v>70.5</c:v>
                </c:pt>
                <c:pt idx="3">
                  <c:v>77.5</c:v>
                </c:pt>
                <c:pt idx="4">
                  <c:v>81.3</c:v>
                </c:pt>
              </c:numCache>
            </c:numRef>
          </c:val>
          <c:smooth val="0"/>
        </c:ser>
        <c:ser>
          <c:idx val="1"/>
          <c:order val="1"/>
          <c:tx>
            <c:strRef>
              <c:f>Sheet1!$C$1</c:f>
              <c:strCache>
                <c:ptCount val="1"/>
                <c:pt idx="0">
                  <c:v>Tiny-BERT random init</c:v>
                </c:pt>
              </c:strCache>
            </c:strRef>
          </c:tx>
          <c:spPr>
            <a:solidFill>
              <a:srgbClr val="D95F02"/>
            </a:solidFill>
            <a:ln w="31750" cap="flat">
              <a:solidFill>
                <a:srgbClr val="D95F0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D95F02"/>
              </a:solidFill>
              <a:ln w="9525" cap="flat">
                <a:solidFill>
                  <a:srgbClr val="D95F02"/>
                </a:solidFill>
                <a:prstDash val="solid"/>
                <a:round/>
              </a:ln>
              <a:effectLst/>
            </c:spPr>
          </c:marker>
          <c:cat>
            <c:multiLvlStrRef>
              <c:f>Sheet1!$A$2:$A$6</c:f>
              <c:multiLvlStrCache>
                <c:ptCount val="5"/>
                <c:lvl>
                  <c:pt idx="0">
                    <c:v>100</c:v>
                  </c:pt>
                  <c:pt idx="1">
                    <c:v>300</c:v>
                  </c:pt>
                  <c:pt idx="2">
                    <c:v>1000</c:v>
                  </c:pt>
                  <c:pt idx="3">
                    <c:v>3000</c:v>
                  </c:pt>
                  <c:pt idx="4">
                    <c:v>6920</c:v>
                  </c:pt>
                </c:lvl>
              </c:multiLvlStrCache>
            </c:multiLvlStrRef>
          </c:cat>
          <c:val>
            <c:numRef>
              <c:f>Sheet1!$C$2:$C$6</c:f>
              <c:numCache>
                <c:formatCode>General</c:formatCode>
                <c:ptCount val="5"/>
                <c:pt idx="0">
                  <c:v>57</c:v>
                </c:pt>
                <c:pt idx="1">
                  <c:v>63.2</c:v>
                </c:pt>
                <c:pt idx="2">
                  <c:v>68.2</c:v>
                </c:pt>
                <c:pt idx="3">
                  <c:v>75.2</c:v>
                </c:pt>
                <c:pt idx="4">
                  <c:v>78.5</c:v>
                </c:pt>
              </c:numCache>
            </c:numRef>
          </c:val>
          <c:smooth val="0"/>
        </c:ser>
        <c:ser>
          <c:idx val="2"/>
          <c:order val="2"/>
          <c:tx>
            <c:strRef>
              <c:f>Sheet1!$D$1</c:f>
              <c:strCache>
                <c:ptCount val="1"/>
                <c:pt idx="0">
                  <c:v>Tiny-BERT + MLM</c:v>
                </c:pt>
              </c:strCache>
            </c:strRef>
          </c:tx>
          <c:spPr>
            <a:solidFill>
              <a:srgbClr val="1B9E77"/>
            </a:solidFill>
            <a:ln w="31750" cap="flat">
              <a:solidFill>
                <a:srgbClr val="1B9E77"/>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1B9E77"/>
              </a:solidFill>
              <a:ln w="9525" cap="flat">
                <a:solidFill>
                  <a:srgbClr val="1B9E77"/>
                </a:solidFill>
                <a:prstDash val="solid"/>
                <a:round/>
              </a:ln>
              <a:effectLst/>
            </c:spPr>
          </c:marker>
          <c:cat>
            <c:multiLvlStrRef>
              <c:f>Sheet1!$A$2:$A$6</c:f>
              <c:multiLvlStrCache>
                <c:ptCount val="5"/>
                <c:lvl>
                  <c:pt idx="0">
                    <c:v>100</c:v>
                  </c:pt>
                  <c:pt idx="1">
                    <c:v>300</c:v>
                  </c:pt>
                  <c:pt idx="2">
                    <c:v>1000</c:v>
                  </c:pt>
                  <c:pt idx="3">
                    <c:v>3000</c:v>
                  </c:pt>
                  <c:pt idx="4">
                    <c:v>6920</c:v>
                  </c:pt>
                </c:lvl>
              </c:multiLvlStrCache>
            </c:multiLvlStrRef>
          </c:cat>
          <c:val>
            <c:numRef>
              <c:f>Sheet1!$D$2:$D$6</c:f>
              <c:numCache>
                <c:formatCode>General</c:formatCode>
                <c:ptCount val="5"/>
                <c:pt idx="0">
                  <c:v>56.8</c:v>
                </c:pt>
                <c:pt idx="1">
                  <c:v>58.7</c:v>
                </c:pt>
                <c:pt idx="2">
                  <c:v>65.7</c:v>
                </c:pt>
                <c:pt idx="3">
                  <c:v>72.9</c:v>
                </c:pt>
                <c:pt idx="4">
                  <c:v>77.5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5B6472"/>
                    </a:solidFill>
                    <a:latin typeface="Arial"/>
                  </a:defRPr>
                </a:pPr>
                <a:r>
                  <a:rPr sz="1000" b="0" i="0" u="none" strike="noStrike">
                    <a:solidFill>
                      <a:srgbClr val="5B6472"/>
                    </a:solidFill>
                    <a:latin typeface="Arial"/>
                  </a:rPr>
                  <a:t>labeled training sentences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B6472"/>
                </a:solidFill>
                <a:latin typeface="Calibri"/>
              </a:defRPr>
            </a:pPr>
            <a:endParaRPr lang="en-US"/>
          </a:p>
        </c:txPr>
        <c:crossAx val="2094734552"/>
        <c:crosses val="autoZero"/>
        <c:auto val="1"/>
        <c:lblAlgn val="ctr"/>
        <c:noMultiLvlLbl val="1"/>
      </c:catAx>
      <c:valAx>
        <c:axId val="2094734552"/>
        <c:scaling>
          <c:orientation val="minMax"/>
          <c:max val="85"/>
          <c:min val="5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50" b="0" i="0" u="none" strike="noStrike">
                <a:solidFill>
                  <a:srgbClr val="5B6472"/>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1F2937"/>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TF-IDF + LogReg</c:v>
                </c:pt>
              </c:strCache>
            </c:strRef>
          </c:tx>
          <c:spPr>
            <a:solidFill>
              <a:srgbClr val="7F7F7F"/>
            </a:solidFill>
            <a:effectLst/>
          </c:spPr>
          <c:invertIfNegative val="0"/>
          <c:dLbls>
            <c:numFmt formatCode="0.0" sourceLinked="0"/>
            <c:txPr>
              <a:bodyPr/>
              <a:lstStyle/>
              <a:p>
                <a:pPr>
                  <a:defRPr b="0" i="0" strike="noStrike" sz="800" u="none">
                    <a:solidFill>
                      <a:srgbClr val="1F2937"/>
                    </a:solidFill>
                    <a:latin typeface="Arial"/>
                  </a:defRPr>
                </a:pPr>
              </a:p>
            </c:txPr>
            <c:showLegendKey val="0"/>
            <c:showVal val="1"/>
            <c:showCatName val="0"/>
            <c:showSerName val="0"/>
            <c:showPercent val="0"/>
            <c:showBubbleSize val="0"/>
            <c:showLeaderLines val="0"/>
          </c:dLbls>
          <c:cat>
            <c:multiLvlStrRef>
              <c:f>Sheet1!$A$2:$A$4</c:f>
              <c:multiLvlStrCache>
                <c:ptCount val="3"/>
                <c:lvl>
                  <c:pt idx="0">
                    <c:v>clean</c:v>
                  </c:pt>
                  <c:pt idx="1">
                    <c:v>typos 30%</c:v>
                  </c:pt>
                  <c:pt idx="2">
                    <c:v>OOD IMDb</c:v>
                  </c:pt>
                </c:lvl>
              </c:multiLvlStrCache>
            </c:multiLvlStrRef>
          </c:cat>
          <c:val>
            <c:numRef>
              <c:f>Sheet1!$B$2:$B$4</c:f>
              <c:numCache>
                <c:formatCode>General</c:formatCode>
                <c:ptCount val="3"/>
                <c:pt idx="0">
                  <c:v>81.3</c:v>
                </c:pt>
                <c:pt idx="1">
                  <c:v>77.5</c:v>
                </c:pt>
                <c:pt idx="2">
                  <c:v>72.5</c:v>
                </c:pt>
              </c:numCache>
            </c:numRef>
          </c:val>
        </c:ser>
        <c:ser>
          <c:idx val="1"/>
          <c:order val="1"/>
          <c:tx>
            <c:strRef>
              <c:f>Sheet1!$C$1</c:f>
              <c:strCache>
                <c:ptCount val="1"/>
                <c:pt idx="0">
                  <c:v>Tiny random init</c:v>
                </c:pt>
              </c:strCache>
            </c:strRef>
          </c:tx>
          <c:spPr>
            <a:solidFill>
              <a:srgbClr val="D95F02"/>
            </a:solidFill>
            <a:effectLst/>
          </c:spPr>
          <c:invertIfNegative val="0"/>
          <c:dLbls>
            <c:numFmt formatCode="0.0" sourceLinked="0"/>
            <c:txPr>
              <a:bodyPr/>
              <a:lstStyle/>
              <a:p>
                <a:pPr>
                  <a:defRPr b="0" i="0" strike="noStrike" sz="800" u="none">
                    <a:solidFill>
                      <a:srgbClr val="1F2937"/>
                    </a:solidFill>
                    <a:latin typeface="Arial"/>
                  </a:defRPr>
                </a:pPr>
              </a:p>
            </c:txPr>
            <c:showLegendKey val="0"/>
            <c:showVal val="1"/>
            <c:showCatName val="0"/>
            <c:showSerName val="0"/>
            <c:showPercent val="0"/>
            <c:showBubbleSize val="0"/>
            <c:showLeaderLines val="0"/>
          </c:dLbls>
          <c:cat>
            <c:multiLvlStrRef>
              <c:f>Sheet1!$A$2:$A$4</c:f>
              <c:multiLvlStrCache>
                <c:ptCount val="3"/>
                <c:lvl>
                  <c:pt idx="0">
                    <c:v>clean</c:v>
                  </c:pt>
                  <c:pt idx="1">
                    <c:v>typos 30%</c:v>
                  </c:pt>
                  <c:pt idx="2">
                    <c:v>OOD IMDb</c:v>
                  </c:pt>
                </c:lvl>
              </c:multiLvlStrCache>
            </c:multiLvlStrRef>
          </c:cat>
          <c:val>
            <c:numRef>
              <c:f>Sheet1!$C$2:$C$4</c:f>
              <c:numCache>
                <c:formatCode>General</c:formatCode>
                <c:ptCount val="3"/>
                <c:pt idx="0">
                  <c:v>78.5</c:v>
                </c:pt>
                <c:pt idx="1">
                  <c:v>73.6</c:v>
                </c:pt>
                <c:pt idx="2">
                  <c:v>68.1</c:v>
                </c:pt>
              </c:numCache>
            </c:numRef>
          </c:val>
        </c:ser>
        <c:ser>
          <c:idx val="2"/>
          <c:order val="2"/>
          <c:tx>
            <c:strRef>
              <c:f>Sheet1!$D$1</c:f>
              <c:strCache>
                <c:ptCount val="1"/>
                <c:pt idx="0">
                  <c:v>Tiny + MLM</c:v>
                </c:pt>
              </c:strCache>
            </c:strRef>
          </c:tx>
          <c:spPr>
            <a:solidFill>
              <a:srgbClr val="1B9E77"/>
            </a:solidFill>
            <a:effectLst/>
          </c:spPr>
          <c:invertIfNegative val="0"/>
          <c:dLbls>
            <c:numFmt formatCode="0.0" sourceLinked="0"/>
            <c:txPr>
              <a:bodyPr/>
              <a:lstStyle/>
              <a:p>
                <a:pPr>
                  <a:defRPr b="0" i="0" strike="noStrike" sz="800" u="none">
                    <a:solidFill>
                      <a:srgbClr val="1F2937"/>
                    </a:solidFill>
                    <a:latin typeface="Arial"/>
                  </a:defRPr>
                </a:pPr>
              </a:p>
            </c:txPr>
            <c:showLegendKey val="0"/>
            <c:showVal val="1"/>
            <c:showCatName val="0"/>
            <c:showSerName val="0"/>
            <c:showPercent val="0"/>
            <c:showBubbleSize val="0"/>
            <c:showLeaderLines val="0"/>
          </c:dLbls>
          <c:cat>
            <c:multiLvlStrRef>
              <c:f>Sheet1!$A$2:$A$4</c:f>
              <c:multiLvlStrCache>
                <c:ptCount val="3"/>
                <c:lvl>
                  <c:pt idx="0">
                    <c:v>clean</c:v>
                  </c:pt>
                  <c:pt idx="1">
                    <c:v>typos 30%</c:v>
                  </c:pt>
                  <c:pt idx="2">
                    <c:v>OOD IMDb</c:v>
                  </c:pt>
                </c:lvl>
              </c:multiLvlStrCache>
            </c:multiLvlStrRef>
          </c:cat>
          <c:val>
            <c:numRef>
              <c:f>Sheet1!$D$2:$D$4</c:f>
              <c:numCache>
                <c:formatCode>General</c:formatCode>
                <c:ptCount val="3"/>
                <c:pt idx="0">
                  <c:v>77.5</c:v>
                </c:pt>
                <c:pt idx="1">
                  <c:v>70.6</c:v>
                </c:pt>
                <c:pt idx="2">
                  <c:v>63.7</c:v>
                </c:pt>
              </c:numCache>
            </c:numRef>
          </c:val>
        </c:ser>
        <c:ser>
          <c:idx val="3"/>
          <c:order val="3"/>
          <c:tx>
            <c:strRef>
              <c:f>Sheet1!$E$1</c:f>
              <c:strCache>
                <c:ptCount val="1"/>
                <c:pt idx="0">
                  <c:v>BERT-Tiny (public)</c:v>
                </c:pt>
              </c:strCache>
            </c:strRef>
          </c:tx>
          <c:spPr>
            <a:solidFill>
              <a:srgbClr val="1F78B4"/>
            </a:solidFill>
            <a:effectLst/>
          </c:spPr>
          <c:invertIfNegative val="0"/>
          <c:dLbls>
            <c:numFmt formatCode="0.0" sourceLinked="0"/>
            <c:txPr>
              <a:bodyPr/>
              <a:lstStyle/>
              <a:p>
                <a:pPr>
                  <a:defRPr b="0" i="0" strike="noStrike" sz="800" u="none">
                    <a:solidFill>
                      <a:srgbClr val="1F2937"/>
                    </a:solidFill>
                    <a:latin typeface="Arial"/>
                  </a:defRPr>
                </a:pPr>
              </a:p>
            </c:txPr>
            <c:showLegendKey val="0"/>
            <c:showVal val="1"/>
            <c:showCatName val="0"/>
            <c:showSerName val="0"/>
            <c:showPercent val="0"/>
            <c:showBubbleSize val="0"/>
            <c:showLeaderLines val="0"/>
          </c:dLbls>
          <c:cat>
            <c:multiLvlStrRef>
              <c:f>Sheet1!$A$2:$A$4</c:f>
              <c:multiLvlStrCache>
                <c:ptCount val="3"/>
                <c:lvl>
                  <c:pt idx="0">
                    <c:v>clean</c:v>
                  </c:pt>
                  <c:pt idx="1">
                    <c:v>typos 30%</c:v>
                  </c:pt>
                  <c:pt idx="2">
                    <c:v>OOD IMDb</c:v>
                  </c:pt>
                </c:lvl>
              </c:multiLvlStrCache>
            </c:multiLvlStrRef>
          </c:cat>
          <c:val>
            <c:numRef>
              <c:f>Sheet1!$E$2:$E$4</c:f>
              <c:numCache>
                <c:formatCode>General</c:formatCode>
                <c:ptCount val="3"/>
                <c:pt idx="0">
                  <c:v>81.7</c:v>
                </c:pt>
                <c:pt idx="1">
                  <c:v>74.6</c:v>
                </c:pt>
                <c:pt idx="2">
                  <c:v>69.1</c:v>
                </c:pt>
              </c:numCache>
            </c:numRef>
          </c:val>
        </c:ser>
        <c:ser>
          <c:idx val="4"/>
          <c:order val="4"/>
          <c:tx>
            <c:strRef>
              <c:f>Sheet1!$F$1</c:f>
              <c:strCache>
                <c:ptCount val="1"/>
                <c:pt idx="0">
                  <c:v>DistilBERT (public)</c:v>
                </c:pt>
              </c:strCache>
            </c:strRef>
          </c:tx>
          <c:spPr>
            <a:solidFill>
              <a:srgbClr val="7570B3"/>
            </a:solidFill>
            <a:effectLst/>
          </c:spPr>
          <c:invertIfNegative val="0"/>
          <c:dLbls>
            <c:numFmt formatCode="0.0" sourceLinked="0"/>
            <c:txPr>
              <a:bodyPr/>
              <a:lstStyle/>
              <a:p>
                <a:pPr>
                  <a:defRPr b="0" i="0" strike="noStrike" sz="800" u="none">
                    <a:solidFill>
                      <a:srgbClr val="1F2937"/>
                    </a:solidFill>
                    <a:latin typeface="Arial"/>
                  </a:defRPr>
                </a:pPr>
              </a:p>
            </c:txPr>
            <c:showLegendKey val="0"/>
            <c:showVal val="1"/>
            <c:showCatName val="0"/>
            <c:showSerName val="0"/>
            <c:showPercent val="0"/>
            <c:showBubbleSize val="0"/>
            <c:showLeaderLines val="0"/>
          </c:dLbls>
          <c:cat>
            <c:multiLvlStrRef>
              <c:f>Sheet1!$A$2:$A$4</c:f>
              <c:multiLvlStrCache>
                <c:ptCount val="3"/>
                <c:lvl>
                  <c:pt idx="0">
                    <c:v>clean</c:v>
                  </c:pt>
                  <c:pt idx="1">
                    <c:v>typos 30%</c:v>
                  </c:pt>
                  <c:pt idx="2">
                    <c:v>OOD IMDb</c:v>
                  </c:pt>
                </c:lvl>
              </c:multiLvlStrCache>
            </c:multiLvlStrRef>
          </c:cat>
          <c:val>
            <c:numRef>
              <c:f>Sheet1!$F$2:$F$4</c:f>
              <c:numCache>
                <c:formatCode>General</c:formatCode>
                <c:ptCount val="3"/>
                <c:pt idx="0">
                  <c:v>90.4</c:v>
                </c:pt>
                <c:pt idx="1">
                  <c:v>83.9</c:v>
                </c:pt>
                <c:pt idx="2">
                  <c:v>72.8</c:v>
                </c:pt>
              </c:numCache>
            </c:numRef>
          </c:val>
        </c:ser>
        <c:dLbls>
          <c:numFmt formatCode="0.0" sourceLinked="0"/>
          <c:txPr>
            <a:bodyPr/>
            <a:lstStyle/>
            <a:p>
              <a:pPr>
                <a:defRPr b="0" i="0" strike="noStrike" sz="800" u="none">
                  <a:solidFill>
                    <a:srgbClr val="1F2937"/>
                  </a:solidFill>
                  <a:latin typeface="Arial"/>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B6472"/>
                </a:solidFill>
                <a:latin typeface="Calibri"/>
              </a:defRPr>
            </a:pPr>
            <a:endParaRPr lang="en-US"/>
          </a:p>
        </c:txPr>
        <c:crossAx val="2094734552"/>
        <c:crosses val="autoZero"/>
        <c:auto val="1"/>
        <c:lblAlgn val="ctr"/>
        <c:noMultiLvlLbl val="1"/>
      </c:catAx>
      <c:valAx>
        <c:axId val="2094734552"/>
        <c:scaling>
          <c:orientation val="minMax"/>
          <c:max val="95"/>
          <c:min val="55"/>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50" b="0" i="0" u="none" strike="noStrike">
                <a:solidFill>
                  <a:srgbClr val="5B6472"/>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1F2937"/>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TF-IDF + LogReg</c:v>
                </c:pt>
              </c:strCache>
            </c:strRef>
          </c:tx>
          <c:spPr>
            <a:solidFill>
              <a:srgbClr val="7F7F7F"/>
            </a:solidFill>
            <a:effectLst/>
          </c:spPr>
          <c:invertIfNegative val="0"/>
          <c:dLbls>
            <c:numFmt formatCode="0.0" sourceLinked="0"/>
            <c:txPr>
              <a:bodyPr/>
              <a:lstStyle/>
              <a:p>
                <a:pPr>
                  <a:defRPr b="0" i="0" strike="noStrike" sz="800" u="none">
                    <a:solidFill>
                      <a:srgbClr val="1F2937"/>
                    </a:solidFill>
                    <a:latin typeface="Arial"/>
                  </a:defRPr>
                </a:pPr>
              </a:p>
            </c:txPr>
            <c:showLegendKey val="0"/>
            <c:showVal val="1"/>
            <c:showCatName val="0"/>
            <c:showSerName val="0"/>
            <c:showPercent val="0"/>
            <c:showBubbleSize val="0"/>
            <c:showLeaderLines val="0"/>
          </c:dLbls>
          <c:cat>
            <c:multiLvlStrRef>
              <c:f>Sheet1!$A$2:$A$3</c:f>
              <c:multiLvlStrCache>
                <c:ptCount val="2"/>
                <c:lvl>
                  <c:pt idx="0">
                    <c:v>n = 1,000</c:v>
                  </c:pt>
                  <c:pt idx="1">
                    <c:v>n = 6,920</c:v>
                  </c:pt>
                </c:lvl>
              </c:multiLvlStrCache>
            </c:multiLvlStrRef>
          </c:cat>
          <c:val>
            <c:numRef>
              <c:f>Sheet1!$B$2:$B$3</c:f>
              <c:numCache>
                <c:formatCode>General</c:formatCode>
                <c:ptCount val="2"/>
                <c:pt idx="0">
                  <c:v>70.5</c:v>
                </c:pt>
                <c:pt idx="1">
                  <c:v>81.3</c:v>
                </c:pt>
              </c:numCache>
            </c:numRef>
          </c:val>
        </c:ser>
        <c:ser>
          <c:idx val="1"/>
          <c:order val="1"/>
          <c:tx>
            <c:strRef>
              <c:f>Sheet1!$C$1</c:f>
              <c:strCache>
                <c:ptCount val="1"/>
                <c:pt idx="0">
                  <c:v>Tiny + MLM (ours)</c:v>
                </c:pt>
              </c:strCache>
            </c:strRef>
          </c:tx>
          <c:spPr>
            <a:solidFill>
              <a:srgbClr val="1B9E77"/>
            </a:solidFill>
            <a:effectLst/>
          </c:spPr>
          <c:invertIfNegative val="0"/>
          <c:dLbls>
            <c:numFmt formatCode="0.0" sourceLinked="0"/>
            <c:txPr>
              <a:bodyPr/>
              <a:lstStyle/>
              <a:p>
                <a:pPr>
                  <a:defRPr b="0" i="0" strike="noStrike" sz="800" u="none">
                    <a:solidFill>
                      <a:srgbClr val="1F2937"/>
                    </a:solidFill>
                    <a:latin typeface="Arial"/>
                  </a:defRPr>
                </a:pPr>
              </a:p>
            </c:txPr>
            <c:showLegendKey val="0"/>
            <c:showVal val="1"/>
            <c:showCatName val="0"/>
            <c:showSerName val="0"/>
            <c:showPercent val="0"/>
            <c:showBubbleSize val="0"/>
            <c:showLeaderLines val="0"/>
          </c:dLbls>
          <c:cat>
            <c:multiLvlStrRef>
              <c:f>Sheet1!$A$2:$A$3</c:f>
              <c:multiLvlStrCache>
                <c:ptCount val="2"/>
                <c:lvl>
                  <c:pt idx="0">
                    <c:v>n = 1,000</c:v>
                  </c:pt>
                  <c:pt idx="1">
                    <c:v>n = 6,920</c:v>
                  </c:pt>
                </c:lvl>
              </c:multiLvlStrCache>
            </c:multiLvlStrRef>
          </c:cat>
          <c:val>
            <c:numRef>
              <c:f>Sheet1!$C$2:$C$3</c:f>
              <c:numCache>
                <c:formatCode>General</c:formatCode>
                <c:ptCount val="2"/>
                <c:pt idx="0">
                  <c:v>65.7</c:v>
                </c:pt>
                <c:pt idx="1">
                  <c:v>77.5</c:v>
                </c:pt>
              </c:numCache>
            </c:numRef>
          </c:val>
        </c:ser>
        <c:ser>
          <c:idx val="2"/>
          <c:order val="2"/>
          <c:tx>
            <c:strRef>
              <c:f>Sheet1!$D$1</c:f>
              <c:strCache>
                <c:ptCount val="1"/>
                <c:pt idx="0">
                  <c:v>BERT-Tiny (public, 4.4M)</c:v>
                </c:pt>
              </c:strCache>
            </c:strRef>
          </c:tx>
          <c:spPr>
            <a:solidFill>
              <a:srgbClr val="1F78B4"/>
            </a:solidFill>
            <a:effectLst/>
          </c:spPr>
          <c:invertIfNegative val="0"/>
          <c:dLbls>
            <c:numFmt formatCode="0.0" sourceLinked="0"/>
            <c:txPr>
              <a:bodyPr/>
              <a:lstStyle/>
              <a:p>
                <a:pPr>
                  <a:defRPr b="0" i="0" strike="noStrike" sz="800" u="none">
                    <a:solidFill>
                      <a:srgbClr val="1F2937"/>
                    </a:solidFill>
                    <a:latin typeface="Arial"/>
                  </a:defRPr>
                </a:pPr>
              </a:p>
            </c:txPr>
            <c:showLegendKey val="0"/>
            <c:showVal val="1"/>
            <c:showCatName val="0"/>
            <c:showSerName val="0"/>
            <c:showPercent val="0"/>
            <c:showBubbleSize val="0"/>
            <c:showLeaderLines val="0"/>
          </c:dLbls>
          <c:cat>
            <c:multiLvlStrRef>
              <c:f>Sheet1!$A$2:$A$3</c:f>
              <c:multiLvlStrCache>
                <c:ptCount val="2"/>
                <c:lvl>
                  <c:pt idx="0">
                    <c:v>n = 1,000</c:v>
                  </c:pt>
                  <c:pt idx="1">
                    <c:v>n = 6,920</c:v>
                  </c:pt>
                </c:lvl>
              </c:multiLvlStrCache>
            </c:multiLvlStrRef>
          </c:cat>
          <c:val>
            <c:numRef>
              <c:f>Sheet1!$D$2:$D$3</c:f>
              <c:numCache>
                <c:formatCode>General</c:formatCode>
                <c:ptCount val="2"/>
                <c:pt idx="0">
                  <c:v>75</c:v>
                </c:pt>
                <c:pt idx="1">
                  <c:v>81.7</c:v>
                </c:pt>
              </c:numCache>
            </c:numRef>
          </c:val>
        </c:ser>
        <c:ser>
          <c:idx val="3"/>
          <c:order val="3"/>
          <c:tx>
            <c:strRef>
              <c:f>Sheet1!$E$1</c:f>
              <c:strCache>
                <c:ptCount val="1"/>
                <c:pt idx="0">
                  <c:v>DistilBERT (public, 66.4M)</c:v>
                </c:pt>
              </c:strCache>
            </c:strRef>
          </c:tx>
          <c:spPr>
            <a:solidFill>
              <a:srgbClr val="7570B3"/>
            </a:solidFill>
            <a:effectLst/>
          </c:spPr>
          <c:invertIfNegative val="0"/>
          <c:dLbls>
            <c:numFmt formatCode="0.0" sourceLinked="0"/>
            <c:txPr>
              <a:bodyPr/>
              <a:lstStyle/>
              <a:p>
                <a:pPr>
                  <a:defRPr b="0" i="0" strike="noStrike" sz="800" u="none">
                    <a:solidFill>
                      <a:srgbClr val="1F2937"/>
                    </a:solidFill>
                    <a:latin typeface="Arial"/>
                  </a:defRPr>
                </a:pPr>
              </a:p>
            </c:txPr>
            <c:showLegendKey val="0"/>
            <c:showVal val="1"/>
            <c:showCatName val="0"/>
            <c:showSerName val="0"/>
            <c:showPercent val="0"/>
            <c:showBubbleSize val="0"/>
            <c:showLeaderLines val="0"/>
          </c:dLbls>
          <c:cat>
            <c:multiLvlStrRef>
              <c:f>Sheet1!$A$2:$A$3</c:f>
              <c:multiLvlStrCache>
                <c:ptCount val="2"/>
                <c:lvl>
                  <c:pt idx="0">
                    <c:v>n = 1,000</c:v>
                  </c:pt>
                  <c:pt idx="1">
                    <c:v>n = 6,920</c:v>
                  </c:pt>
                </c:lvl>
              </c:multiLvlStrCache>
            </c:multiLvlStrRef>
          </c:cat>
          <c:val>
            <c:numRef>
              <c:f>Sheet1!$E$2:$E$3</c:f>
              <c:numCache>
                <c:formatCode>General</c:formatCode>
                <c:ptCount val="2"/>
                <c:pt idx="0">
                  <c:v>86.5</c:v>
                </c:pt>
                <c:pt idx="1">
                  <c:v>90.4</c:v>
                </c:pt>
              </c:numCache>
            </c:numRef>
          </c:val>
        </c:ser>
        <c:dLbls>
          <c:numFmt formatCode="0.0" sourceLinked="0"/>
          <c:txPr>
            <a:bodyPr/>
            <a:lstStyle/>
            <a:p>
              <a:pPr>
                <a:defRPr b="0" i="0" strike="noStrike" sz="800" u="none">
                  <a:solidFill>
                    <a:srgbClr val="1F2937"/>
                  </a:solidFill>
                  <a:latin typeface="Arial"/>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B6472"/>
                </a:solidFill>
                <a:latin typeface="Calibri"/>
              </a:defRPr>
            </a:pPr>
            <a:endParaRPr lang="en-US"/>
          </a:p>
        </c:txPr>
        <c:crossAx val="2094734552"/>
        <c:crosses val="autoZero"/>
        <c:auto val="1"/>
        <c:lblAlgn val="ctr"/>
        <c:noMultiLvlLbl val="1"/>
      </c:catAx>
      <c:valAx>
        <c:axId val="2094734552"/>
        <c:scaling>
          <c:orientation val="minMax"/>
          <c:max val="95"/>
          <c:min val="55"/>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50" b="0" i="0" u="none" strike="noStrike">
                <a:solidFill>
                  <a:srgbClr val="5B6472"/>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1F2937"/>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Title | 0:00-0:45]
Good morning. Given the same small amount of unlabeled text, what's the best bet - ignore it, turn it into a lexicon, distil it into static embeddings, or spend it on contextual pre-training?
I built a CPU-only pipeline to answer this for sentiment classification, comparing a rule-based lexicon, TF-IDF, static word embeddings trained on the same text, a tiny BERT with and without pre-training, and public checkpoints.
Beyond accuracy, I also look at robustness and - the twist - where models succeed or fail under ambiguity. Ten minutes, then five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Problem | 0:45-1:45]
Seven questions under one protocol. RQ1 and 2: does masked-language-model pre-training beat random init and TF-IDF, and how robust is it? RQ3 and 4: how does the benefit change with pre-training length, and what does it cost in size and speed? RQ5: what happens with real public checkpoints? RQ6, the new one: given the same unlabeled text, is contextual pre-training even the best way to use it, compared to a lexicon or static embeddings? RQ7, also new: where do errors concentrate on ambiguous sentences, and do models know when they're unsure?
Same data subsets, same classifier head, same evaluation sets for every single model - that's what makes the comparison fair.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Approach | 1:45-2:45]
Six families, one protocol. A VADER sentiment lexicon that never sees a training label. TF-IDF with word or character n-grams. word2vec and fastText - static embeddings trained on the exact same 1.2 million unlabeled words as our MLM pre-training. Our tiny BERT, with and without that pre-training. And public BERT-Tiny and DistilBERT.
Everything is evaluated on clean data, typos, word-drop, out-of-domain IMDb reviews, and - new for this version - ambiguity strata built from fine-grained SST-5 labels, confidence calibration, and simple linguistic markers like contrast words.
The tiny BERT has 1.17 million parameters and pre-trains in 13 minutes on one CPU.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Plateau | 2:45-3:15]
Quick sanity check before results. For the first 1,500 of 5,000 pre-training steps, the loss sits near the unigram entropy - the model is only learning word frequencies. It breaks out after that, ending at perplexity 77 and 29 percent masked-token accuracy. So pre-training is doing something real; the question is whether it helps.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Verdict | 3:15-4:00]
Here's the headline. From 300 labels on, the pre-trained model falls behind its own untrained twin - by 0.3 to 4.5 points, and the confidence intervals exclude zero at three of five budgets. TF-IDF then overtakes both. At laptop scale, this pre-training recipe did not pay off in the usual sense. But that's not the whole story - the next two slides are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Families | 4:00-5:00]
Given the same unlabeled text, what's the best bet? It depends on how many labels you have. fastText embeddings, trained on the exact same words as our MLM run, are the best model overall at 100 and 300 labels, and still beat MLM pre-training at 1,000 labels - 70.2 versus 65.7 percent. But fastText plateaus around 71 percent while TF-IDF and the transformers keep climbing.
A sentiment lexicon with zero task labels reaches 69.4 percent - worth about 840 TF-IDF labels, a useful number when deciding whether to collect more labels at all.
And character n-grams give the best typo robustness of any classical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Label-equivalence | 5:00-5:30]
To make these gaps concrete, I read every model's accuracy off the TF-IDF curve and asked: how many TF-IDF labels is this worth? Our pre-trained model at 1,000 labels is worth about 450 - less than half its own labels. DistilBERT at 1,000 labels beats TF-IDF with all 6,920 - almost a sevenfold saving. This already hints that scale, not the recipe, is what's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Decoupling | 5:30-6:15]
Why the negative result? I tested each pre-training checkpoint two ways: fine-tune it, or freeze it and train only a linear probe. They disagree. The probe rises from 56.4 to 59.4 percent - MLM does add sentiment-relevant information. But fine-tuned accuracy falls, from 69.7 to 65.7. Our pre-trained weights are a better representation but a worse starting point for fine-tuning. The next slide shows exactly where that plays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Ambiguity | 6:15-7:15]
Here's the twist. I split test sentences by polarity strength, using fine-grained SST-5 labels: strong, clearly positive or negative, versus weak, mild and closer to neutral. At 1,000 labels, pre-training costs 4.7 points on STRONG sentences but only 1.3 - not significant - on WEAK ones. The interaction is significant: pre-training's damage is concentrated on the sentences that were already easy.
And across every model I tried, confidence barely tracks ambiguity - the best AUROC for flagging a weak-polarity sentence from low confidence is 0.62, barely above chance. Worse, transformers trained on 1,000 labels are badly overconfident - calibration error of 23 to 26 percent, versus 3 to 6 for TF-IDF. You cannot trust a small transformer's confidence to tell you when it's unsure.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Robustness | 7:15-8:00]
Typos hurt every transformer more than TF-IDF - likely because WordPiece fragments misspelled words. And out-of-domain, on IMDb reviews, pre-training did not help our model, and no public checkpoint beat TF-IDF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Twist | 8:00-8:45]
If the architecture were the problem, public BERT-Tiny - same depth, same width - would fail too. It doesn't: 9.3 points above our pre-trained model at 1,000 labels. DistilBERT is further ahead still. So the negative result is about scale - 1.2 million words, 13 minutes - not about pre-training as a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11b - Cross-domain | 8:45-9:30]
Does any of this generalise beyond movies? I repeated the two sharpest findings on two more domains with REAL ambiguity signals - finance news with actual annotator agreement tiers, and airline tweets with actual crowd-worker confidence scores.
The small-budget story replicates, even more sharply: on airline at 100 labels, fastText beats pre-training by 3.2 points, and pre-training is SIGNIFICANTLY WORSE than random init.
But the full-data story does not replicate. On SST-2, TF-IDF keeps a significant edge even at full data. In finance and airline, all three families - TF-IDF, random init, pre-trained - become statistically indistinguishable once there are enough labels. So TF-IDF's advantage was partly a movie-review-specific result, not a universal one.
And cross-domain transfer is uniformly poor - every model loses 15 to 60 points moving to a different domain, TF-IDF travels best, and pre-training does not help close that gap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Takeaways | 8:45-10:00]
Three findings. One: the best bet for unlabeled text depends on how many labels you have - fastText under a thousand, TF-IDF after, and our pre-training recipe never wins outright. Two: pre-training's damage concentrates on sentences that were already easy, and roughly disappears on ambiguous ones. Three: no model's confidence is a good ambiguity detector, and small transformers are dangerously overconfident.
Field guide: a few hundred labels, use fastText; a few thousand, TF-IDF; if you have a public checkpoint, use it. The whole pipeline is one command and fully reproducible. Thank you -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B1 - Cost | Q&amp;A]
Use if asked about efficiency. INT8 dynamic quantization cuts the tiny model's file by 25 percent with unchanged accuracy. TF-IDF is smaller, faster and more accurate than any transformer here. The fastText row is an estimate, not a separate measurement, and I say so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B2 - Statistics | Q&amp;A]
The interaction test - is the strong-sentence gap bigger than the weak-sentence gap - has a 95 percent interval of -3.5 to -0.3, which excludes zero at n=1000. That's the statistical backbone of the ambiguity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B3 - Limitations | Q&amp;A]
Be upfront: the ambiguity signal measures polarity strength, not real annotator disagreement, and covers most of the dataset as 'weak', so it's a coarse proxy. Public checkpoints used untuned learning rates and their predictions weren't stored, so no paired tests exist for them yet. Everything else is standard caveats: three seeds, one task, one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B4 - Reproducibility | Q&amp;A]
One command runs everything. Every stage is resumable and stores its predictions, so statistics and the ambiguity analysis can always be regenerated or extended.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640080" y="960120"/>
            <a:ext cx="7863840" cy="100584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Same Words, Different Bets</a:t>
            </a:r>
            <a:endParaRPr lang="en-US" sz="4000" dirty="0"/>
          </a:p>
        </p:txBody>
      </p:sp>
      <p:sp>
        <p:nvSpPr>
          <p:cNvPr id="3" name="Text 1"/>
          <p:cNvSpPr txBox="1"/>
          <p:nvPr/>
        </p:nvSpPr>
        <p:spPr>
          <a:xfrm>
            <a:off x="640080" y="2057400"/>
            <a:ext cx="7863840" cy="822960"/>
          </a:xfrm>
          <a:prstGeom prst="rect">
            <a:avLst/>
          </a:prstGeom>
          <a:noFill/>
          <a:ln/>
        </p:spPr>
        <p:txBody>
          <a:bodyPr wrap="square" lIns="0" tIns="0" rIns="0" bIns="0" rtlCol="0" anchor="ctr"/>
          <a:lstStyle/>
          <a:p>
            <a:pPr indent="0" marL="0">
              <a:buNone/>
            </a:pPr>
            <a:r>
              <a:rPr lang="en-US" sz="1650" dirty="0">
                <a:solidFill>
                  <a:srgbClr val="C7D2E0"/>
                </a:solidFill>
                <a:latin typeface="Calibri" pitchFamily="34" charset="0"/>
                <a:ea typeface="Calibri" pitchFamily="34" charset="-122"/>
                <a:cs typeface="Calibri" pitchFamily="34" charset="-120"/>
              </a:rPr>
              <a:t>Lexicons, static embeddings and contextual pre-training for sentiment classification under scarce labels and ambiguity</a:t>
            </a:r>
            <a:endParaRPr lang="en-US" sz="1650" dirty="0"/>
          </a:p>
        </p:txBody>
      </p:sp>
      <p:sp>
        <p:nvSpPr>
          <p:cNvPr id="4" name="Shape 2"/>
          <p:cNvSpPr/>
          <p:nvPr/>
        </p:nvSpPr>
        <p:spPr>
          <a:xfrm>
            <a:off x="640080" y="3063240"/>
            <a:ext cx="1097280" cy="54864"/>
          </a:xfrm>
          <a:prstGeom prst="rect">
            <a:avLst/>
          </a:prstGeom>
          <a:solidFill>
            <a:srgbClr val="1B9E77"/>
          </a:solidFill>
          <a:ln w="12700">
            <a:solidFill>
              <a:srgbClr val="1B9E77"/>
            </a:solidFill>
            <a:prstDash val="solid"/>
          </a:ln>
        </p:spPr>
      </p:sp>
      <p:sp>
        <p:nvSpPr>
          <p:cNvPr id="5" name="Text 3"/>
          <p:cNvSpPr txBox="1"/>
          <p:nvPr/>
        </p:nvSpPr>
        <p:spPr>
          <a:xfrm>
            <a:off x="640080" y="3246120"/>
            <a:ext cx="7863840" cy="365760"/>
          </a:xfrm>
          <a:prstGeom prst="rect">
            <a:avLst/>
          </a:prstGeom>
          <a:noFill/>
          <a:ln/>
        </p:spPr>
        <p:txBody>
          <a:bodyPr wrap="square" lIns="0" tIns="0" rIns="0" bIns="0" rtlCol="0" anchor="ctr"/>
          <a:lstStyle/>
          <a:p>
            <a:pPr indent="0" marL="0">
              <a:buNone/>
            </a:pPr>
            <a:r>
              <a:rPr lang="en-US" sz="1400" i="1" dirty="0">
                <a:solidFill>
                  <a:srgbClr val="9FB3C8"/>
                </a:solidFill>
                <a:latin typeface="Calibri" pitchFamily="34" charset="0"/>
                <a:ea typeface="Calibri" pitchFamily="34" charset="-122"/>
                <a:cs typeface="Calibri" pitchFamily="34" charset="-120"/>
              </a:rPr>
              <a:t>Given 1.2M unlabeled words: ignore them, distil them, or pre-train on them?</a:t>
            </a:r>
            <a:endParaRPr lang="en-US" sz="1400" dirty="0"/>
          </a:p>
        </p:txBody>
      </p:sp>
      <p:sp>
        <p:nvSpPr>
          <p:cNvPr id="6" name="Text 4"/>
          <p:cNvSpPr txBox="1"/>
          <p:nvPr/>
        </p:nvSpPr>
        <p:spPr>
          <a:xfrm>
            <a:off x="640080" y="4114800"/>
            <a:ext cx="7863840" cy="365760"/>
          </a:xfrm>
          <a:prstGeom prst="rect">
            <a:avLst/>
          </a:prstGeom>
          <a:noFill/>
          <a:ln/>
        </p:spPr>
        <p:txBody>
          <a:bodyPr wrap="square" lIns="0" tIns="0" rIns="0" bIns="0" rtlCol="0" anchor="ctr"/>
          <a:lstStyle/>
          <a:p>
            <a:pPr indent="0" marL="0">
              <a:buNone/>
            </a:pPr>
            <a:r>
              <a:rPr lang="en-US" sz="1300" dirty="0">
                <a:solidFill>
                  <a:srgbClr val="9FB3C8"/>
                </a:solidFill>
                <a:latin typeface="Calibri" pitchFamily="34" charset="0"/>
                <a:ea typeface="Calibri" pitchFamily="34" charset="-122"/>
                <a:cs typeface="Calibri" pitchFamily="34" charset="-120"/>
              </a:rPr>
              <a:t>SST-2 + IMDb  |  CPU only  |  3 seeds  |  Anurag Prasad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B9E77"/>
          </a:solidFill>
          <a:ln w="12700">
            <a:solidFill>
              <a:srgbClr val="1B9E77"/>
            </a:solidFill>
            <a:prstDash val="solid"/>
          </a:ln>
        </p:spPr>
      </p:sp>
      <p:sp>
        <p:nvSpPr>
          <p:cNvPr id="3" name="Text 1"/>
          <p:cNvSpPr txBox="1"/>
          <p:nvPr/>
        </p:nvSpPr>
        <p:spPr>
          <a:xfrm>
            <a:off x="411480" y="228600"/>
            <a:ext cx="7863840" cy="548640"/>
          </a:xfrm>
          <a:prstGeom prst="rect">
            <a:avLst/>
          </a:prstGeom>
          <a:noFill/>
          <a:ln/>
        </p:spPr>
        <p:txBody>
          <a:bodyPr wrap="square" lIns="0" tIns="0" rIns="0" bIns="0" rtlCol="0" anchor="ctr"/>
          <a:lstStyle/>
          <a:p>
            <a:pPr indent="0" marL="0">
              <a:buNone/>
            </a:pPr>
            <a:r>
              <a:rPr lang="en-US" sz="2500" b="1" dirty="0">
                <a:solidFill>
                  <a:srgbClr val="14213D"/>
                </a:solidFill>
                <a:latin typeface="Calibri" pitchFamily="34" charset="0"/>
                <a:ea typeface="Calibri" pitchFamily="34" charset="-122"/>
                <a:cs typeface="Calibri" pitchFamily="34" charset="-120"/>
              </a:rPr>
              <a:t>The problem: seven questions, one protocol</a:t>
            </a:r>
            <a:endParaRPr lang="en-US" sz="2500" dirty="0"/>
          </a:p>
        </p:txBody>
      </p:sp>
      <p:sp>
        <p:nvSpPr>
          <p:cNvPr id="4" name="Text 2"/>
          <p:cNvSpPr txBox="1"/>
          <p:nvPr/>
        </p:nvSpPr>
        <p:spPr>
          <a:xfrm>
            <a:off x="411480" y="758952"/>
            <a:ext cx="8321040" cy="32004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Same data, same head, same evaluation for every model</a:t>
            </a:r>
            <a:endParaRPr lang="en-US" sz="1250" dirty="0"/>
          </a:p>
        </p:txBody>
      </p:sp>
      <p:sp>
        <p:nvSpPr>
          <p:cNvPr id="5" name="Shape 3"/>
          <p:cNvSpPr/>
          <p:nvPr/>
        </p:nvSpPr>
        <p:spPr>
          <a:xfrm>
            <a:off x="411480" y="1234440"/>
            <a:ext cx="8321040" cy="621792"/>
          </a:xfrm>
          <a:prstGeom prst="roundRect">
            <a:avLst>
              <a:gd name="adj" fmla="val 7353"/>
            </a:avLst>
          </a:prstGeom>
          <a:solidFill>
            <a:srgbClr val="F4F6F8"/>
          </a:solidFill>
          <a:ln w="12700">
            <a:solidFill>
              <a:srgbClr val="F4F6F8"/>
            </a:solidFill>
            <a:prstDash val="solid"/>
          </a:ln>
        </p:spPr>
      </p:sp>
      <p:sp>
        <p:nvSpPr>
          <p:cNvPr id="6" name="Text 4"/>
          <p:cNvSpPr txBox="1"/>
          <p:nvPr/>
        </p:nvSpPr>
        <p:spPr>
          <a:xfrm>
            <a:off x="548640" y="1234440"/>
            <a:ext cx="1188720" cy="621792"/>
          </a:xfrm>
          <a:prstGeom prst="rect">
            <a:avLst/>
          </a:prstGeom>
          <a:noFill/>
          <a:ln/>
        </p:spPr>
        <p:txBody>
          <a:bodyPr wrap="square" lIns="0" tIns="0" rIns="0" bIns="0" rtlCol="0" anchor="ctr"/>
          <a:lstStyle/>
          <a:p>
            <a:pPr indent="0" marL="0">
              <a:buNone/>
            </a:pPr>
            <a:r>
              <a:rPr lang="en-US" sz="1500" b="1" dirty="0">
                <a:solidFill>
                  <a:srgbClr val="1B9E77"/>
                </a:solidFill>
                <a:latin typeface="Calibri" pitchFamily="34" charset="0"/>
                <a:ea typeface="Calibri" pitchFamily="34" charset="-122"/>
                <a:cs typeface="Calibri" pitchFamily="34" charset="-120"/>
              </a:rPr>
              <a:t>RQ1-2</a:t>
            </a:r>
            <a:endParaRPr lang="en-US" sz="1500" dirty="0"/>
          </a:p>
        </p:txBody>
      </p:sp>
      <p:sp>
        <p:nvSpPr>
          <p:cNvPr id="7" name="Text 5"/>
          <p:cNvSpPr txBox="1"/>
          <p:nvPr/>
        </p:nvSpPr>
        <p:spPr>
          <a:xfrm>
            <a:off x="1828800" y="1234440"/>
            <a:ext cx="6766560" cy="621792"/>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Does pre-training help? How robust is it?</a:t>
            </a:r>
            <a:endParaRPr lang="en-US" sz="1350" dirty="0"/>
          </a:p>
        </p:txBody>
      </p:sp>
      <p:sp>
        <p:nvSpPr>
          <p:cNvPr id="8" name="Shape 6"/>
          <p:cNvSpPr/>
          <p:nvPr/>
        </p:nvSpPr>
        <p:spPr>
          <a:xfrm>
            <a:off x="411480" y="1947672"/>
            <a:ext cx="8321040" cy="621792"/>
          </a:xfrm>
          <a:prstGeom prst="roundRect">
            <a:avLst>
              <a:gd name="adj" fmla="val 7353"/>
            </a:avLst>
          </a:prstGeom>
          <a:solidFill>
            <a:srgbClr val="F4F6F8"/>
          </a:solidFill>
          <a:ln w="12700">
            <a:solidFill>
              <a:srgbClr val="F4F6F8"/>
            </a:solidFill>
            <a:prstDash val="solid"/>
          </a:ln>
        </p:spPr>
      </p:sp>
      <p:sp>
        <p:nvSpPr>
          <p:cNvPr id="9" name="Text 7"/>
          <p:cNvSpPr txBox="1"/>
          <p:nvPr/>
        </p:nvSpPr>
        <p:spPr>
          <a:xfrm>
            <a:off x="548640" y="1947672"/>
            <a:ext cx="1188720" cy="621792"/>
          </a:xfrm>
          <a:prstGeom prst="rect">
            <a:avLst/>
          </a:prstGeom>
          <a:noFill/>
          <a:ln/>
        </p:spPr>
        <p:txBody>
          <a:bodyPr wrap="square" lIns="0" tIns="0" rIns="0" bIns="0" rtlCol="0" anchor="ctr"/>
          <a:lstStyle/>
          <a:p>
            <a:pPr indent="0" marL="0">
              <a:buNone/>
            </a:pPr>
            <a:r>
              <a:rPr lang="en-US" sz="1500" b="1" dirty="0">
                <a:solidFill>
                  <a:srgbClr val="1B9E77"/>
                </a:solidFill>
                <a:latin typeface="Calibri" pitchFamily="34" charset="0"/>
                <a:ea typeface="Calibri" pitchFamily="34" charset="-122"/>
                <a:cs typeface="Calibri" pitchFamily="34" charset="-120"/>
              </a:rPr>
              <a:t>RQ3-4</a:t>
            </a:r>
            <a:endParaRPr lang="en-US" sz="1500" dirty="0"/>
          </a:p>
        </p:txBody>
      </p:sp>
      <p:sp>
        <p:nvSpPr>
          <p:cNvPr id="10" name="Text 8"/>
          <p:cNvSpPr txBox="1"/>
          <p:nvPr/>
        </p:nvSpPr>
        <p:spPr>
          <a:xfrm>
            <a:off x="1828800" y="1947672"/>
            <a:ext cx="6766560" cy="621792"/>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How much pre-training is enough, and what does it cost?</a:t>
            </a:r>
            <a:endParaRPr lang="en-US" sz="1350" dirty="0"/>
          </a:p>
        </p:txBody>
      </p:sp>
      <p:sp>
        <p:nvSpPr>
          <p:cNvPr id="11" name="Shape 9"/>
          <p:cNvSpPr/>
          <p:nvPr/>
        </p:nvSpPr>
        <p:spPr>
          <a:xfrm>
            <a:off x="411480" y="2660904"/>
            <a:ext cx="8321040" cy="621792"/>
          </a:xfrm>
          <a:prstGeom prst="roundRect">
            <a:avLst>
              <a:gd name="adj" fmla="val 7353"/>
            </a:avLst>
          </a:prstGeom>
          <a:solidFill>
            <a:srgbClr val="F4F6F8"/>
          </a:solidFill>
          <a:ln w="12700">
            <a:solidFill>
              <a:srgbClr val="F4F6F8"/>
            </a:solidFill>
            <a:prstDash val="solid"/>
          </a:ln>
        </p:spPr>
      </p:sp>
      <p:sp>
        <p:nvSpPr>
          <p:cNvPr id="12" name="Text 10"/>
          <p:cNvSpPr txBox="1"/>
          <p:nvPr/>
        </p:nvSpPr>
        <p:spPr>
          <a:xfrm>
            <a:off x="548640" y="2660904"/>
            <a:ext cx="1188720" cy="621792"/>
          </a:xfrm>
          <a:prstGeom prst="rect">
            <a:avLst/>
          </a:prstGeom>
          <a:noFill/>
          <a:ln/>
        </p:spPr>
        <p:txBody>
          <a:bodyPr wrap="square" lIns="0" tIns="0" rIns="0" bIns="0" rtlCol="0" anchor="ctr"/>
          <a:lstStyle/>
          <a:p>
            <a:pPr indent="0" marL="0">
              <a:buNone/>
            </a:pPr>
            <a:r>
              <a:rPr lang="en-US" sz="1500" b="1" dirty="0">
                <a:solidFill>
                  <a:srgbClr val="1B9E77"/>
                </a:solidFill>
                <a:latin typeface="Calibri" pitchFamily="34" charset="0"/>
                <a:ea typeface="Calibri" pitchFamily="34" charset="-122"/>
                <a:cs typeface="Calibri" pitchFamily="34" charset="-120"/>
              </a:rPr>
              <a:t>RQ5</a:t>
            </a:r>
            <a:endParaRPr lang="en-US" sz="1500" dirty="0"/>
          </a:p>
        </p:txBody>
      </p:sp>
      <p:sp>
        <p:nvSpPr>
          <p:cNvPr id="13" name="Text 11"/>
          <p:cNvSpPr txBox="1"/>
          <p:nvPr/>
        </p:nvSpPr>
        <p:spPr>
          <a:xfrm>
            <a:off x="1828800" y="2660904"/>
            <a:ext cx="6766560" cy="621792"/>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How far do public checkpoints move the picture?</a:t>
            </a:r>
            <a:endParaRPr lang="en-US" sz="1350" dirty="0"/>
          </a:p>
        </p:txBody>
      </p:sp>
      <p:sp>
        <p:nvSpPr>
          <p:cNvPr id="14" name="Shape 12"/>
          <p:cNvSpPr/>
          <p:nvPr/>
        </p:nvSpPr>
        <p:spPr>
          <a:xfrm>
            <a:off x="411480" y="3374136"/>
            <a:ext cx="8321040" cy="621792"/>
          </a:xfrm>
          <a:prstGeom prst="roundRect">
            <a:avLst>
              <a:gd name="adj" fmla="val 7353"/>
            </a:avLst>
          </a:prstGeom>
          <a:solidFill>
            <a:srgbClr val="F4F6F8"/>
          </a:solidFill>
          <a:ln w="12700">
            <a:solidFill>
              <a:srgbClr val="F4F6F8"/>
            </a:solidFill>
            <a:prstDash val="solid"/>
          </a:ln>
        </p:spPr>
      </p:sp>
      <p:sp>
        <p:nvSpPr>
          <p:cNvPr id="15" name="Text 13"/>
          <p:cNvSpPr txBox="1"/>
          <p:nvPr/>
        </p:nvSpPr>
        <p:spPr>
          <a:xfrm>
            <a:off x="548640" y="3374136"/>
            <a:ext cx="1188720" cy="621792"/>
          </a:xfrm>
          <a:prstGeom prst="rect">
            <a:avLst/>
          </a:prstGeom>
          <a:noFill/>
          <a:ln/>
        </p:spPr>
        <p:txBody>
          <a:bodyPr wrap="square" lIns="0" tIns="0" rIns="0" bIns="0" rtlCol="0" anchor="ctr"/>
          <a:lstStyle/>
          <a:p>
            <a:pPr indent="0" marL="0">
              <a:buNone/>
            </a:pPr>
            <a:r>
              <a:rPr lang="en-US" sz="1500" b="1" dirty="0">
                <a:solidFill>
                  <a:srgbClr val="1B9E77"/>
                </a:solidFill>
                <a:latin typeface="Calibri" pitchFamily="34" charset="0"/>
                <a:ea typeface="Calibri" pitchFamily="34" charset="-122"/>
                <a:cs typeface="Calibri" pitchFamily="34" charset="-120"/>
              </a:rPr>
              <a:t>RQ6</a:t>
            </a:r>
            <a:endParaRPr lang="en-US" sz="1500" dirty="0"/>
          </a:p>
        </p:txBody>
      </p:sp>
      <p:sp>
        <p:nvSpPr>
          <p:cNvPr id="16" name="Text 14"/>
          <p:cNvSpPr txBox="1"/>
          <p:nvPr/>
        </p:nvSpPr>
        <p:spPr>
          <a:xfrm>
            <a:off x="1828800" y="3374136"/>
            <a:ext cx="6766560" cy="621792"/>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Given the same text, what's the best family to use it with?</a:t>
            </a:r>
            <a:endParaRPr lang="en-US" sz="1350" dirty="0"/>
          </a:p>
        </p:txBody>
      </p:sp>
      <p:sp>
        <p:nvSpPr>
          <p:cNvPr id="17" name="Shape 15"/>
          <p:cNvSpPr/>
          <p:nvPr/>
        </p:nvSpPr>
        <p:spPr>
          <a:xfrm>
            <a:off x="411480" y="4087368"/>
            <a:ext cx="8321040" cy="621792"/>
          </a:xfrm>
          <a:prstGeom prst="roundRect">
            <a:avLst>
              <a:gd name="adj" fmla="val 7353"/>
            </a:avLst>
          </a:prstGeom>
          <a:solidFill>
            <a:srgbClr val="F4F6F8"/>
          </a:solidFill>
          <a:ln w="12700">
            <a:solidFill>
              <a:srgbClr val="F4F6F8"/>
            </a:solidFill>
            <a:prstDash val="solid"/>
          </a:ln>
        </p:spPr>
      </p:sp>
      <p:sp>
        <p:nvSpPr>
          <p:cNvPr id="18" name="Text 16"/>
          <p:cNvSpPr txBox="1"/>
          <p:nvPr/>
        </p:nvSpPr>
        <p:spPr>
          <a:xfrm>
            <a:off x="548640" y="4087368"/>
            <a:ext cx="1188720" cy="621792"/>
          </a:xfrm>
          <a:prstGeom prst="rect">
            <a:avLst/>
          </a:prstGeom>
          <a:noFill/>
          <a:ln/>
        </p:spPr>
        <p:txBody>
          <a:bodyPr wrap="square" lIns="0" tIns="0" rIns="0" bIns="0" rtlCol="0" anchor="ctr"/>
          <a:lstStyle/>
          <a:p>
            <a:pPr indent="0" marL="0">
              <a:buNone/>
            </a:pPr>
            <a:r>
              <a:rPr lang="en-US" sz="1500" b="1" dirty="0">
                <a:solidFill>
                  <a:srgbClr val="1B9E77"/>
                </a:solidFill>
                <a:latin typeface="Calibri" pitchFamily="34" charset="0"/>
                <a:ea typeface="Calibri" pitchFamily="34" charset="-122"/>
                <a:cs typeface="Calibri" pitchFamily="34" charset="-120"/>
              </a:rPr>
              <a:t>RQ7</a:t>
            </a:r>
            <a:endParaRPr lang="en-US" sz="1500" dirty="0"/>
          </a:p>
        </p:txBody>
      </p:sp>
      <p:sp>
        <p:nvSpPr>
          <p:cNvPr id="19" name="Text 17"/>
          <p:cNvSpPr txBox="1"/>
          <p:nvPr/>
        </p:nvSpPr>
        <p:spPr>
          <a:xfrm>
            <a:off x="1828800" y="4087368"/>
            <a:ext cx="6766560" cy="621792"/>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Where do errors concentrate under ambiguity, and do models know when they're unsure?</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B9E77"/>
          </a:solidFill>
          <a:ln w="12700">
            <a:solidFill>
              <a:srgbClr val="1B9E77"/>
            </a:solidFill>
            <a:prstDash val="solid"/>
          </a:ln>
        </p:spPr>
      </p:sp>
      <p:sp>
        <p:nvSpPr>
          <p:cNvPr id="3" name="Text 1"/>
          <p:cNvSpPr txBox="1"/>
          <p:nvPr/>
        </p:nvSpPr>
        <p:spPr>
          <a:xfrm>
            <a:off x="411480" y="228600"/>
            <a:ext cx="7863840" cy="548640"/>
          </a:xfrm>
          <a:prstGeom prst="rect">
            <a:avLst/>
          </a:prstGeom>
          <a:noFill/>
          <a:ln/>
        </p:spPr>
        <p:txBody>
          <a:bodyPr wrap="square" lIns="0" tIns="0" rIns="0" bIns="0" rtlCol="0" anchor="ctr"/>
          <a:lstStyle/>
          <a:p>
            <a:pPr indent="0" marL="0">
              <a:buNone/>
            </a:pPr>
            <a:r>
              <a:rPr lang="en-US" sz="2500" b="1" dirty="0">
                <a:solidFill>
                  <a:srgbClr val="14213D"/>
                </a:solidFill>
                <a:latin typeface="Calibri" pitchFamily="34" charset="0"/>
                <a:ea typeface="Calibri" pitchFamily="34" charset="-122"/>
                <a:cs typeface="Calibri" pitchFamily="34" charset="-120"/>
              </a:rPr>
              <a:t>Approach: six families, one protocol</a:t>
            </a:r>
            <a:endParaRPr lang="en-US" sz="2500" dirty="0"/>
          </a:p>
        </p:txBody>
      </p:sp>
      <p:sp>
        <p:nvSpPr>
          <p:cNvPr id="4" name="Text 2"/>
          <p:cNvSpPr txBox="1"/>
          <p:nvPr/>
        </p:nvSpPr>
        <p:spPr>
          <a:xfrm>
            <a:off x="411480" y="758952"/>
            <a:ext cx="8321040" cy="32004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Every model - lexicon to transformer - fine-tuned/fit and evaluated identically</a:t>
            </a:r>
            <a:endParaRPr lang="en-US" sz="1250" dirty="0"/>
          </a:p>
        </p:txBody>
      </p:sp>
      <p:sp>
        <p:nvSpPr>
          <p:cNvPr id="5" name="Shape 3"/>
          <p:cNvSpPr/>
          <p:nvPr/>
        </p:nvSpPr>
        <p:spPr>
          <a:xfrm>
            <a:off x="411480" y="1234440"/>
            <a:ext cx="1298448" cy="960120"/>
          </a:xfrm>
          <a:prstGeom prst="roundRect">
            <a:avLst>
              <a:gd name="adj" fmla="val 7619"/>
            </a:avLst>
          </a:prstGeom>
          <a:solidFill>
            <a:srgbClr val="F4F6F8"/>
          </a:solidFill>
          <a:ln w="12700">
            <a:solidFill>
              <a:srgbClr val="F4F6F8"/>
            </a:solidFill>
            <a:prstDash val="solid"/>
          </a:ln>
        </p:spPr>
      </p:sp>
      <p:sp>
        <p:nvSpPr>
          <p:cNvPr id="6" name="Text 4"/>
          <p:cNvSpPr txBox="1"/>
          <p:nvPr/>
        </p:nvSpPr>
        <p:spPr>
          <a:xfrm>
            <a:off x="411480" y="1234440"/>
            <a:ext cx="1298448" cy="960120"/>
          </a:xfrm>
          <a:prstGeom prst="rect">
            <a:avLst/>
          </a:prstGeom>
          <a:noFill/>
          <a:ln/>
        </p:spPr>
        <p:txBody>
          <a:bodyPr wrap="square" lIns="50800" tIns="50800" rIns="50800" bIns="5080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VADER lexicon</a:t>
            </a:r>
            <a:endParaRPr lang="en-US" sz="1150" dirty="0"/>
          </a:p>
          <a:p>
            <a:pPr algn="ctr" indent="0" marL="0">
              <a:buNone/>
            </a:pPr>
            <a:r>
              <a:rPr lang="en-US" sz="1150" dirty="0">
                <a:solidFill>
                  <a:srgbClr val="1F2937"/>
                </a:solidFill>
                <a:latin typeface="Calibri" pitchFamily="34" charset="0"/>
                <a:ea typeface="Calibri" pitchFamily="34" charset="-122"/>
                <a:cs typeface="Calibri" pitchFamily="34" charset="-120"/>
              </a:rPr>
              <a:t>0 task labels</a:t>
            </a:r>
            <a:endParaRPr lang="en-US" sz="1150" dirty="0"/>
          </a:p>
        </p:txBody>
      </p:sp>
      <p:sp>
        <p:nvSpPr>
          <p:cNvPr id="7" name="Shape 5"/>
          <p:cNvSpPr/>
          <p:nvPr/>
        </p:nvSpPr>
        <p:spPr>
          <a:xfrm>
            <a:off x="1824228" y="1234440"/>
            <a:ext cx="1298448" cy="960120"/>
          </a:xfrm>
          <a:prstGeom prst="roundRect">
            <a:avLst>
              <a:gd name="adj" fmla="val 7619"/>
            </a:avLst>
          </a:prstGeom>
          <a:solidFill>
            <a:srgbClr val="F4F6F8"/>
          </a:solidFill>
          <a:ln w="12700">
            <a:solidFill>
              <a:srgbClr val="F4F6F8"/>
            </a:solidFill>
            <a:prstDash val="solid"/>
          </a:ln>
        </p:spPr>
      </p:sp>
      <p:sp>
        <p:nvSpPr>
          <p:cNvPr id="8" name="Text 6"/>
          <p:cNvSpPr txBox="1"/>
          <p:nvPr/>
        </p:nvSpPr>
        <p:spPr>
          <a:xfrm>
            <a:off x="1824228" y="1234440"/>
            <a:ext cx="1298448" cy="960120"/>
          </a:xfrm>
          <a:prstGeom prst="rect">
            <a:avLst/>
          </a:prstGeom>
          <a:noFill/>
          <a:ln/>
        </p:spPr>
        <p:txBody>
          <a:bodyPr wrap="square" lIns="50800" tIns="50800" rIns="50800" bIns="5080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TF-IDF word/char</a:t>
            </a:r>
            <a:endParaRPr lang="en-US" sz="1150" dirty="0"/>
          </a:p>
          <a:p>
            <a:pPr algn="ctr" indent="0" marL="0">
              <a:buNone/>
            </a:pPr>
            <a:r>
              <a:rPr lang="en-US" sz="1150" dirty="0">
                <a:solidFill>
                  <a:srgbClr val="1F2937"/>
                </a:solidFill>
                <a:latin typeface="Calibri" pitchFamily="34" charset="0"/>
                <a:ea typeface="Calibri" pitchFamily="34" charset="-122"/>
                <a:cs typeface="Calibri" pitchFamily="34" charset="-120"/>
              </a:rPr>
              <a:t>+ LogReg/NB/SVM</a:t>
            </a:r>
            <a:endParaRPr lang="en-US" sz="1150" dirty="0"/>
          </a:p>
        </p:txBody>
      </p:sp>
      <p:sp>
        <p:nvSpPr>
          <p:cNvPr id="9" name="Shape 7"/>
          <p:cNvSpPr/>
          <p:nvPr/>
        </p:nvSpPr>
        <p:spPr>
          <a:xfrm>
            <a:off x="3236976" y="1234440"/>
            <a:ext cx="1298448" cy="960120"/>
          </a:xfrm>
          <a:prstGeom prst="roundRect">
            <a:avLst>
              <a:gd name="adj" fmla="val 7619"/>
            </a:avLst>
          </a:prstGeom>
          <a:solidFill>
            <a:srgbClr val="F4F6F8"/>
          </a:solidFill>
          <a:ln w="12700">
            <a:solidFill>
              <a:srgbClr val="F4F6F8"/>
            </a:solidFill>
            <a:prstDash val="solid"/>
          </a:ln>
        </p:spPr>
      </p:sp>
      <p:sp>
        <p:nvSpPr>
          <p:cNvPr id="10" name="Text 8"/>
          <p:cNvSpPr txBox="1"/>
          <p:nvPr/>
        </p:nvSpPr>
        <p:spPr>
          <a:xfrm>
            <a:off x="3236976" y="1234440"/>
            <a:ext cx="1298448" cy="960120"/>
          </a:xfrm>
          <a:prstGeom prst="rect">
            <a:avLst/>
          </a:prstGeom>
          <a:noFill/>
          <a:ln/>
        </p:spPr>
        <p:txBody>
          <a:bodyPr wrap="square" lIns="50800" tIns="50800" rIns="50800" bIns="5080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word2vec / fastText</a:t>
            </a:r>
            <a:endParaRPr lang="en-US" sz="1150" dirty="0"/>
          </a:p>
          <a:p>
            <a:pPr algn="ctr" indent="0" marL="0">
              <a:buNone/>
            </a:pPr>
            <a:r>
              <a:rPr lang="en-US" sz="1150" dirty="0">
                <a:solidFill>
                  <a:srgbClr val="1F2937"/>
                </a:solidFill>
                <a:latin typeface="Calibri" pitchFamily="34" charset="0"/>
                <a:ea typeface="Calibri" pitchFamily="34" charset="-122"/>
                <a:cs typeface="Calibri" pitchFamily="34" charset="-120"/>
              </a:rPr>
              <a:t>same 1.2M words</a:t>
            </a:r>
            <a:endParaRPr lang="en-US" sz="1150" dirty="0"/>
          </a:p>
        </p:txBody>
      </p:sp>
      <p:sp>
        <p:nvSpPr>
          <p:cNvPr id="11" name="Shape 9"/>
          <p:cNvSpPr/>
          <p:nvPr/>
        </p:nvSpPr>
        <p:spPr>
          <a:xfrm>
            <a:off x="4649724" y="1234440"/>
            <a:ext cx="1298448" cy="960120"/>
          </a:xfrm>
          <a:prstGeom prst="roundRect">
            <a:avLst>
              <a:gd name="adj" fmla="val 7619"/>
            </a:avLst>
          </a:prstGeom>
          <a:solidFill>
            <a:srgbClr val="E3EEF8"/>
          </a:solidFill>
          <a:ln w="12700">
            <a:solidFill>
              <a:srgbClr val="E3EEF8"/>
            </a:solidFill>
            <a:prstDash val="solid"/>
          </a:ln>
        </p:spPr>
      </p:sp>
      <p:sp>
        <p:nvSpPr>
          <p:cNvPr id="12" name="Text 10"/>
          <p:cNvSpPr txBox="1"/>
          <p:nvPr/>
        </p:nvSpPr>
        <p:spPr>
          <a:xfrm>
            <a:off x="4649724" y="1234440"/>
            <a:ext cx="1298448" cy="960120"/>
          </a:xfrm>
          <a:prstGeom prst="rect">
            <a:avLst/>
          </a:prstGeom>
          <a:noFill/>
          <a:ln/>
        </p:spPr>
        <p:txBody>
          <a:bodyPr wrap="square" lIns="50800" tIns="50800" rIns="50800" bIns="5080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Tiny-BERT</a:t>
            </a:r>
            <a:endParaRPr lang="en-US" sz="1150" dirty="0"/>
          </a:p>
          <a:p>
            <a:pPr algn="ctr" indent="0" marL="0">
              <a:buNone/>
            </a:pPr>
            <a:r>
              <a:rPr lang="en-US" sz="1150" dirty="0">
                <a:solidFill>
                  <a:srgbClr val="1F2937"/>
                </a:solidFill>
                <a:latin typeface="Calibri" pitchFamily="34" charset="0"/>
                <a:ea typeface="Calibri" pitchFamily="34" charset="-122"/>
                <a:cs typeface="Calibri" pitchFamily="34" charset="-120"/>
              </a:rPr>
              <a:t>random init</a:t>
            </a:r>
            <a:endParaRPr lang="en-US" sz="1150" dirty="0"/>
          </a:p>
        </p:txBody>
      </p:sp>
      <p:sp>
        <p:nvSpPr>
          <p:cNvPr id="13" name="Shape 11"/>
          <p:cNvSpPr/>
          <p:nvPr/>
        </p:nvSpPr>
        <p:spPr>
          <a:xfrm>
            <a:off x="6062472" y="1234440"/>
            <a:ext cx="1298448" cy="960120"/>
          </a:xfrm>
          <a:prstGeom prst="roundRect">
            <a:avLst>
              <a:gd name="adj" fmla="val 7619"/>
            </a:avLst>
          </a:prstGeom>
          <a:solidFill>
            <a:srgbClr val="E3EEF8"/>
          </a:solidFill>
          <a:ln w="12700">
            <a:solidFill>
              <a:srgbClr val="E3EEF8"/>
            </a:solidFill>
            <a:prstDash val="solid"/>
          </a:ln>
        </p:spPr>
      </p:sp>
      <p:sp>
        <p:nvSpPr>
          <p:cNvPr id="14" name="Text 12"/>
          <p:cNvSpPr txBox="1"/>
          <p:nvPr/>
        </p:nvSpPr>
        <p:spPr>
          <a:xfrm>
            <a:off x="6062472" y="1234440"/>
            <a:ext cx="1298448" cy="960120"/>
          </a:xfrm>
          <a:prstGeom prst="rect">
            <a:avLst/>
          </a:prstGeom>
          <a:noFill/>
          <a:ln/>
        </p:spPr>
        <p:txBody>
          <a:bodyPr wrap="square" lIns="50800" tIns="50800" rIns="50800" bIns="5080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Tiny-BERT</a:t>
            </a:r>
            <a:endParaRPr lang="en-US" sz="1150" dirty="0"/>
          </a:p>
          <a:p>
            <a:pPr algn="ctr" indent="0" marL="0">
              <a:buNone/>
            </a:pPr>
            <a:r>
              <a:rPr lang="en-US" sz="1150" dirty="0">
                <a:solidFill>
                  <a:srgbClr val="1F2937"/>
                </a:solidFill>
                <a:latin typeface="Calibri" pitchFamily="34" charset="0"/>
                <a:ea typeface="Calibri" pitchFamily="34" charset="-122"/>
                <a:cs typeface="Calibri" pitchFamily="34" charset="-120"/>
              </a:rPr>
              <a:t>+MLM pre-train</a:t>
            </a:r>
            <a:endParaRPr lang="en-US" sz="1150" dirty="0"/>
          </a:p>
        </p:txBody>
      </p:sp>
      <p:sp>
        <p:nvSpPr>
          <p:cNvPr id="15" name="Shape 13"/>
          <p:cNvSpPr/>
          <p:nvPr/>
        </p:nvSpPr>
        <p:spPr>
          <a:xfrm>
            <a:off x="7475220" y="1234440"/>
            <a:ext cx="1298448" cy="960120"/>
          </a:xfrm>
          <a:prstGeom prst="roundRect">
            <a:avLst>
              <a:gd name="adj" fmla="val 7619"/>
            </a:avLst>
          </a:prstGeom>
          <a:solidFill>
            <a:srgbClr val="E3EEF8"/>
          </a:solidFill>
          <a:ln w="12700">
            <a:solidFill>
              <a:srgbClr val="E3EEF8"/>
            </a:solidFill>
            <a:prstDash val="solid"/>
          </a:ln>
        </p:spPr>
      </p:sp>
      <p:sp>
        <p:nvSpPr>
          <p:cNvPr id="16" name="Text 14"/>
          <p:cNvSpPr txBox="1"/>
          <p:nvPr/>
        </p:nvSpPr>
        <p:spPr>
          <a:xfrm>
            <a:off x="7475220" y="1234440"/>
            <a:ext cx="1298448" cy="960120"/>
          </a:xfrm>
          <a:prstGeom prst="rect">
            <a:avLst/>
          </a:prstGeom>
          <a:noFill/>
          <a:ln/>
        </p:spPr>
        <p:txBody>
          <a:bodyPr wrap="square" lIns="50800" tIns="50800" rIns="50800" bIns="5080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BERT-Tiny /</a:t>
            </a:r>
            <a:endParaRPr lang="en-US" sz="1150" dirty="0"/>
          </a:p>
          <a:p>
            <a:pPr algn="ctr" indent="0" marL="0">
              <a:buNone/>
            </a:pPr>
            <a:r>
              <a:rPr lang="en-US" sz="1150" dirty="0">
                <a:solidFill>
                  <a:srgbClr val="1F2937"/>
                </a:solidFill>
                <a:latin typeface="Calibri" pitchFamily="34" charset="0"/>
                <a:ea typeface="Calibri" pitchFamily="34" charset="-122"/>
                <a:cs typeface="Calibri" pitchFamily="34" charset="-120"/>
              </a:rPr>
              <a:t>DistilBERT</a:t>
            </a:r>
            <a:endParaRPr lang="en-US" sz="1150" dirty="0"/>
          </a:p>
          <a:p>
            <a:pPr algn="ctr" indent="0" marL="0">
              <a:buNone/>
            </a:pPr>
            <a:r>
              <a:rPr lang="en-US" sz="1150" dirty="0">
                <a:solidFill>
                  <a:srgbClr val="1F2937"/>
                </a:solidFill>
                <a:latin typeface="Calibri" pitchFamily="34" charset="0"/>
                <a:ea typeface="Calibri" pitchFamily="34" charset="-122"/>
                <a:cs typeface="Calibri" pitchFamily="34" charset="-120"/>
              </a:rPr>
              <a:t>public</a:t>
            </a:r>
            <a:endParaRPr lang="en-US" sz="1150" dirty="0"/>
          </a:p>
        </p:txBody>
      </p:sp>
      <p:sp>
        <p:nvSpPr>
          <p:cNvPr id="17" name="Text 15"/>
          <p:cNvSpPr txBox="1"/>
          <p:nvPr/>
        </p:nvSpPr>
        <p:spPr>
          <a:xfrm>
            <a:off x="411480" y="2423160"/>
            <a:ext cx="8321040" cy="914400"/>
          </a:xfrm>
          <a:prstGeom prst="rect">
            <a:avLst/>
          </a:prstGeom>
          <a:noFill/>
          <a:ln/>
        </p:spPr>
        <p:txBody>
          <a:bodyPr wrap="square" lIns="0" tIns="0" rIns="0" bIns="0" rtlCol="0" anchor="t"/>
          <a:lstStyle/>
          <a:p>
            <a:pPr indent="0" marL="0">
              <a:buNone/>
            </a:pPr>
            <a:r>
              <a:rPr lang="en-US" sz="1350" dirty="0">
                <a:solidFill>
                  <a:srgbClr val="5B6472"/>
                </a:solidFill>
                <a:latin typeface="Calibri" pitchFamily="34" charset="0"/>
                <a:ea typeface="Calibri" pitchFamily="34" charset="-122"/>
                <a:cs typeface="Calibri" pitchFamily="34" charset="-120"/>
              </a:rPr>
              <a:t>Evaluated on: clean SST-2, typos (10/30%), word-drop (20/40%), out-of-domain IMDb, and - new - ambiguity strata from fine-grained SST-5 labels (strong vs weak polarity), confidence calibration, and linguistic markers (contrast, negation).</a:t>
            </a:r>
            <a:endParaRPr lang="en-US" sz="1350" dirty="0"/>
          </a:p>
        </p:txBody>
      </p:sp>
      <p:sp>
        <p:nvSpPr>
          <p:cNvPr id="18" name="Text 16"/>
          <p:cNvSpPr txBox="1"/>
          <p:nvPr/>
        </p:nvSpPr>
        <p:spPr>
          <a:xfrm>
            <a:off x="411480" y="3520440"/>
            <a:ext cx="8321040" cy="1097280"/>
          </a:xfrm>
          <a:prstGeom prst="rect">
            <a:avLst/>
          </a:prstGeom>
          <a:noFill/>
          <a:ln/>
        </p:spPr>
        <p:txBody>
          <a:bodyPr wrap="square" lIns="0" tIns="0" rIns="0" bIns="0" rtlCol="0" anchor="t"/>
          <a:lstStyle/>
          <a:p>
            <a:pPr indent="0" marL="0">
              <a:buNone/>
            </a:pPr>
            <a:r>
              <a:rPr lang="en-US" sz="1300" i="1" dirty="0">
                <a:solidFill>
                  <a:srgbClr val="5B6472"/>
                </a:solidFill>
                <a:latin typeface="Calibri" pitchFamily="34" charset="0"/>
                <a:ea typeface="Calibri" pitchFamily="34" charset="-122"/>
                <a:cs typeface="Calibri" pitchFamily="34" charset="-120"/>
              </a:rPr>
              <a:t>Tiny-BERT: 2 layers, hidden 128, 1,173,248 params. MLM pre-training: 5,000 steps, 13 min, on 1.2M unlabeled IMDb words. All decisions (regularisation, embedding choices) tuned on dev only.</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B9E77"/>
          </a:solidFill>
          <a:ln w="12700">
            <a:solidFill>
              <a:srgbClr val="1B9E77"/>
            </a:solidFill>
            <a:prstDash val="solid"/>
          </a:ln>
        </p:spPr>
      </p:sp>
      <p:sp>
        <p:nvSpPr>
          <p:cNvPr id="3" name="Text 1"/>
          <p:cNvSpPr txBox="1"/>
          <p:nvPr/>
        </p:nvSpPr>
        <p:spPr>
          <a:xfrm>
            <a:off x="411480" y="228600"/>
            <a:ext cx="7863840" cy="548640"/>
          </a:xfrm>
          <a:prstGeom prst="rect">
            <a:avLst/>
          </a:prstGeom>
          <a:noFill/>
          <a:ln/>
        </p:spPr>
        <p:txBody>
          <a:bodyPr wrap="square" lIns="0" tIns="0" rIns="0" bIns="0" rtlCol="0" anchor="ctr"/>
          <a:lstStyle/>
          <a:p>
            <a:pPr indent="0" marL="0">
              <a:buNone/>
            </a:pPr>
            <a:r>
              <a:rPr lang="en-US" sz="2500" b="1" dirty="0">
                <a:solidFill>
                  <a:srgbClr val="14213D"/>
                </a:solidFill>
                <a:latin typeface="Calibri" pitchFamily="34" charset="0"/>
                <a:ea typeface="Calibri" pitchFamily="34" charset="-122"/>
                <a:cs typeface="Calibri" pitchFamily="34" charset="-120"/>
              </a:rPr>
              <a:t>Pre-training starts with a long plateau</a:t>
            </a:r>
            <a:endParaRPr lang="en-US" sz="2500" dirty="0"/>
          </a:p>
        </p:txBody>
      </p:sp>
      <p:sp>
        <p:nvSpPr>
          <p:cNvPr id="4" name="Text 2"/>
          <p:cNvSpPr txBox="1"/>
          <p:nvPr/>
        </p:nvSpPr>
        <p:spPr>
          <a:xfrm>
            <a:off x="411480" y="758952"/>
            <a:ext cx="8321040" cy="32004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Held-out masked-LM loss and accuracy over 5,000 steps</a:t>
            </a:r>
            <a:endParaRPr lang="en-US" sz="1250" dirty="0"/>
          </a:p>
        </p:txBody>
      </p:sp>
      <p:pic>
        <p:nvPicPr>
          <p:cNvPr id="5" name="Image 0" descr="/home/claude/tiny-nlp-research/results/figures/fig_pretrain.png">    </p:cNvPr>
          <p:cNvPicPr>
            <a:picLocks noChangeAspect="1"/>
          </p:cNvPicPr>
          <p:nvPr/>
        </p:nvPicPr>
        <p:blipFill>
          <a:blip r:embed="rId1"/>
          <a:srcRect l="0" r="0" t="0" b="0"/>
          <a:stretch/>
        </p:blipFill>
        <p:spPr>
          <a:xfrm>
            <a:off x="411480" y="1188720"/>
            <a:ext cx="5212080" cy="1920240"/>
          </a:xfrm>
          <a:prstGeom prst="rect">
            <a:avLst/>
          </a:prstGeom>
        </p:spPr>
      </p:pic>
      <p:sp>
        <p:nvSpPr>
          <p:cNvPr id="6" name="Shape 3"/>
          <p:cNvSpPr/>
          <p:nvPr/>
        </p:nvSpPr>
        <p:spPr>
          <a:xfrm>
            <a:off x="5806440" y="1280160"/>
            <a:ext cx="2926080" cy="1188720"/>
          </a:xfrm>
          <a:prstGeom prst="roundRect">
            <a:avLst>
              <a:gd name="adj" fmla="val 4615"/>
            </a:avLst>
          </a:prstGeom>
          <a:solidFill>
            <a:srgbClr val="F4F6F8"/>
          </a:solidFill>
          <a:ln w="12700">
            <a:solidFill>
              <a:srgbClr val="F4F6F8"/>
            </a:solidFill>
            <a:prstDash val="solid"/>
          </a:ln>
        </p:spPr>
      </p:sp>
      <p:sp>
        <p:nvSpPr>
          <p:cNvPr id="7" name="Text 4"/>
          <p:cNvSpPr txBox="1"/>
          <p:nvPr/>
        </p:nvSpPr>
        <p:spPr>
          <a:xfrm>
            <a:off x="5943600" y="1353312"/>
            <a:ext cx="2651760" cy="621792"/>
          </a:xfrm>
          <a:prstGeom prst="rect">
            <a:avLst/>
          </a:prstGeom>
          <a:noFill/>
          <a:ln/>
        </p:spPr>
        <p:txBody>
          <a:bodyPr wrap="square" lIns="0" tIns="0" rIns="0" bIns="0" rtlCol="0" anchor="ctr"/>
          <a:lstStyle/>
          <a:p>
            <a:pPr indent="0" marL="0">
              <a:buNone/>
            </a:pPr>
            <a:r>
              <a:rPr lang="en-US" sz="2700" b="1" dirty="0">
                <a:solidFill>
                  <a:srgbClr val="1B9E77"/>
                </a:solidFill>
                <a:latin typeface="Calibri" pitchFamily="34" charset="0"/>
                <a:ea typeface="Calibri" pitchFamily="34" charset="-122"/>
                <a:cs typeface="Calibri" pitchFamily="34" charset="-120"/>
              </a:rPr>
              <a:t>ppl 77</a:t>
            </a:r>
            <a:endParaRPr lang="en-US" sz="2700" dirty="0"/>
          </a:p>
        </p:txBody>
      </p:sp>
      <p:sp>
        <p:nvSpPr>
          <p:cNvPr id="8" name="Text 5"/>
          <p:cNvSpPr txBox="1"/>
          <p:nvPr/>
        </p:nvSpPr>
        <p:spPr>
          <a:xfrm>
            <a:off x="5943600" y="1975104"/>
            <a:ext cx="2651760" cy="457200"/>
          </a:xfrm>
          <a:prstGeom prst="rect">
            <a:avLst/>
          </a:prstGeom>
          <a:noFill/>
          <a:ln/>
        </p:spPr>
        <p:txBody>
          <a:bodyPr wrap="square" lIns="0" tIns="0" rIns="0" bIns="0" rtlCol="0" anchor="t"/>
          <a:lstStyle/>
          <a:p>
            <a:pPr indent="0" marL="0">
              <a:buNone/>
            </a:pPr>
            <a:r>
              <a:rPr lang="en-US" sz="1100" dirty="0">
                <a:solidFill>
                  <a:srgbClr val="5B6472"/>
                </a:solidFill>
                <a:latin typeface="Calibri" pitchFamily="34" charset="0"/>
                <a:ea typeface="Calibri" pitchFamily="34" charset="-122"/>
                <a:cs typeface="Calibri" pitchFamily="34" charset="-120"/>
              </a:rPr>
              <a:t>final held-out perplexity (from ~3,660)</a:t>
            </a:r>
            <a:endParaRPr lang="en-US" sz="1100" dirty="0"/>
          </a:p>
        </p:txBody>
      </p:sp>
      <p:sp>
        <p:nvSpPr>
          <p:cNvPr id="9" name="Shape 6"/>
          <p:cNvSpPr/>
          <p:nvPr/>
        </p:nvSpPr>
        <p:spPr>
          <a:xfrm>
            <a:off x="5806440" y="2606040"/>
            <a:ext cx="2926080" cy="1188720"/>
          </a:xfrm>
          <a:prstGeom prst="roundRect">
            <a:avLst>
              <a:gd name="adj" fmla="val 4615"/>
            </a:avLst>
          </a:prstGeom>
          <a:solidFill>
            <a:srgbClr val="F4F6F8"/>
          </a:solidFill>
          <a:ln w="12700">
            <a:solidFill>
              <a:srgbClr val="F4F6F8"/>
            </a:solidFill>
            <a:prstDash val="solid"/>
          </a:ln>
        </p:spPr>
      </p:sp>
      <p:sp>
        <p:nvSpPr>
          <p:cNvPr id="10" name="Text 7"/>
          <p:cNvSpPr txBox="1"/>
          <p:nvPr/>
        </p:nvSpPr>
        <p:spPr>
          <a:xfrm>
            <a:off x="5943600" y="2679192"/>
            <a:ext cx="2651760" cy="621792"/>
          </a:xfrm>
          <a:prstGeom prst="rect">
            <a:avLst/>
          </a:prstGeom>
          <a:noFill/>
          <a:ln/>
        </p:spPr>
        <p:txBody>
          <a:bodyPr wrap="square" lIns="0" tIns="0" rIns="0" bIns="0" rtlCol="0" anchor="ctr"/>
          <a:lstStyle/>
          <a:p>
            <a:pPr indent="0" marL="0">
              <a:buNone/>
            </a:pPr>
            <a:r>
              <a:rPr lang="en-US" sz="2700" b="1" dirty="0">
                <a:solidFill>
                  <a:srgbClr val="D95F02"/>
                </a:solidFill>
                <a:latin typeface="Calibri" pitchFamily="34" charset="0"/>
                <a:ea typeface="Calibri" pitchFamily="34" charset="-122"/>
                <a:cs typeface="Calibri" pitchFamily="34" charset="-120"/>
              </a:rPr>
              <a:t>29%</a:t>
            </a:r>
            <a:endParaRPr lang="en-US" sz="2700" dirty="0"/>
          </a:p>
        </p:txBody>
      </p:sp>
      <p:sp>
        <p:nvSpPr>
          <p:cNvPr id="11" name="Text 8"/>
          <p:cNvSpPr txBox="1"/>
          <p:nvPr/>
        </p:nvSpPr>
        <p:spPr>
          <a:xfrm>
            <a:off x="5943600" y="3300984"/>
            <a:ext cx="2651760" cy="457200"/>
          </a:xfrm>
          <a:prstGeom prst="rect">
            <a:avLst/>
          </a:prstGeom>
          <a:noFill/>
          <a:ln/>
        </p:spPr>
        <p:txBody>
          <a:bodyPr wrap="square" lIns="0" tIns="0" rIns="0" bIns="0" rtlCol="0" anchor="t"/>
          <a:lstStyle/>
          <a:p>
            <a:pPr indent="0" marL="0">
              <a:buNone/>
            </a:pPr>
            <a:r>
              <a:rPr lang="en-US" sz="1100" dirty="0">
                <a:solidFill>
                  <a:srgbClr val="5B6472"/>
                </a:solidFill>
                <a:latin typeface="Calibri" pitchFamily="34" charset="0"/>
                <a:ea typeface="Calibri" pitchFamily="34" charset="-122"/>
                <a:cs typeface="Calibri" pitchFamily="34" charset="-120"/>
              </a:rPr>
              <a:t>masked-token accuracy</a:t>
            </a:r>
            <a:endParaRPr lang="en-US" sz="1100" dirty="0"/>
          </a:p>
        </p:txBody>
      </p:sp>
      <p:sp>
        <p:nvSpPr>
          <p:cNvPr id="12" name="Text 9"/>
          <p:cNvSpPr txBox="1"/>
          <p:nvPr/>
        </p:nvSpPr>
        <p:spPr>
          <a:xfrm>
            <a:off x="411480" y="3246120"/>
            <a:ext cx="5486400" cy="128016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1F2937"/>
                </a:solidFill>
                <a:latin typeface="Calibri" pitchFamily="34" charset="0"/>
                <a:ea typeface="Calibri" pitchFamily="34" charset="-122"/>
                <a:cs typeface="Calibri" pitchFamily="34" charset="-120"/>
              </a:rPr>
              <a:t>First ~1,500 steps: loss stuck near the unigram entropy</a:t>
            </a:r>
            <a:endParaRPr lang="en-US" sz="1300" dirty="0"/>
          </a:p>
          <a:p>
            <a:pPr marL="342900" indent="-342900">
              <a:spcAft>
                <a:spcPts val="700"/>
              </a:spcAft>
              <a:buSzPct val="100000"/>
              <a:buChar char="•"/>
            </a:pPr>
            <a:r>
              <a:rPr lang="en-US" sz="1300" dirty="0">
                <a:solidFill>
                  <a:srgbClr val="1F2937"/>
                </a:solidFill>
                <a:latin typeface="Calibri" pitchFamily="34" charset="0"/>
                <a:ea typeface="Calibri" pitchFamily="34" charset="-122"/>
                <a:cs typeface="Calibri" pitchFamily="34" charset="-120"/>
              </a:rPr>
              <a:t>Only then does attention start to use context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B9E77"/>
          </a:solidFill>
          <a:ln w="12700">
            <a:solidFill>
              <a:srgbClr val="1B9E77"/>
            </a:solidFill>
            <a:prstDash val="solid"/>
          </a:ln>
        </p:spPr>
      </p:sp>
      <p:sp>
        <p:nvSpPr>
          <p:cNvPr id="3" name="Text 1"/>
          <p:cNvSpPr txBox="1"/>
          <p:nvPr/>
        </p:nvSpPr>
        <p:spPr>
          <a:xfrm>
            <a:off x="411480" y="228600"/>
            <a:ext cx="7863840" cy="548640"/>
          </a:xfrm>
          <a:prstGeom prst="rect">
            <a:avLst/>
          </a:prstGeom>
          <a:noFill/>
          <a:ln/>
        </p:spPr>
        <p:txBody>
          <a:bodyPr wrap="square" lIns="0" tIns="0" rIns="0" bIns="0" rtlCol="0" anchor="ctr"/>
          <a:lstStyle/>
          <a:p>
            <a:pPr indent="0" marL="0">
              <a:buNone/>
            </a:pPr>
            <a:r>
              <a:rPr lang="en-US" sz="2500" b="1" dirty="0">
                <a:solidFill>
                  <a:srgbClr val="14213D"/>
                </a:solidFill>
                <a:latin typeface="Calibri" pitchFamily="34" charset="0"/>
                <a:ea typeface="Calibri" pitchFamily="34" charset="-122"/>
                <a:cs typeface="Calibri" pitchFamily="34" charset="-120"/>
              </a:rPr>
              <a:t>Pre-training did not help; TF-IDF wins</a:t>
            </a:r>
            <a:endParaRPr lang="en-US" sz="2500" dirty="0"/>
          </a:p>
        </p:txBody>
      </p:sp>
      <p:sp>
        <p:nvSpPr>
          <p:cNvPr id="4" name="Text 2"/>
          <p:cNvSpPr txBox="1"/>
          <p:nvPr/>
        </p:nvSpPr>
        <p:spPr>
          <a:xfrm>
            <a:off x="411480" y="758952"/>
            <a:ext cx="8321040" cy="32004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SST-2 test accuracy (%), mean of 3 seeds</a:t>
            </a:r>
            <a:endParaRPr lang="en-US" sz="1250" dirty="0"/>
          </a:p>
        </p:txBody>
      </p:sp>
      <p:graphicFrame>
        <p:nvGraphicFramePr>
          <p:cNvPr id="5" name="Chart 0" descr=""/>
          <p:cNvGraphicFramePr/>
          <p:nvPr/>
        </p:nvGraphicFramePr>
        <p:xfrm>
          <a:off x="320040" y="1188720"/>
          <a:ext cx="5394960" cy="32918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5897880" y="1325880"/>
            <a:ext cx="2834640" cy="320040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1F2937"/>
                </a:solidFill>
                <a:latin typeface="Calibri" pitchFamily="34" charset="0"/>
                <a:ea typeface="Calibri" pitchFamily="34" charset="-122"/>
                <a:cs typeface="Calibri" pitchFamily="34" charset="-120"/>
              </a:rPr>
              <a:t>MLM vs random init: -0.3 to -4.5 pts at every budget (CIs exclude 0 at n=300,1k,3k)</a:t>
            </a:r>
            <a:endParaRPr lang="en-US" sz="1300" dirty="0"/>
          </a:p>
          <a:p>
            <a:pPr marL="342900" indent="-342900">
              <a:spcAft>
                <a:spcPts val="700"/>
              </a:spcAft>
              <a:buSzPct val="100000"/>
              <a:buChar char="•"/>
            </a:pPr>
            <a:r>
              <a:rPr lang="en-US" sz="1300" dirty="0">
                <a:solidFill>
                  <a:srgbClr val="1F2937"/>
                </a:solidFill>
                <a:latin typeface="Calibri" pitchFamily="34" charset="0"/>
                <a:ea typeface="Calibri" pitchFamily="34" charset="-122"/>
                <a:cs typeface="Calibri" pitchFamily="34" charset="-120"/>
              </a:rPr>
              <a:t>TF-IDF beats the pre-trained model by 3.9-4.8 pts from n=300 on</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B9E77"/>
          </a:solidFill>
          <a:ln w="12700">
            <a:solidFill>
              <a:srgbClr val="1B9E77"/>
            </a:solidFill>
            <a:prstDash val="solid"/>
          </a:ln>
        </p:spPr>
      </p:sp>
      <p:sp>
        <p:nvSpPr>
          <p:cNvPr id="3" name="Text 1"/>
          <p:cNvSpPr txBox="1"/>
          <p:nvPr/>
        </p:nvSpPr>
        <p:spPr>
          <a:xfrm>
            <a:off x="411480" y="228600"/>
            <a:ext cx="7863840" cy="548640"/>
          </a:xfrm>
          <a:prstGeom prst="rect">
            <a:avLst/>
          </a:prstGeom>
          <a:noFill/>
          <a:ln/>
        </p:spPr>
        <p:txBody>
          <a:bodyPr wrap="square" lIns="0" tIns="0" rIns="0" bIns="0" rtlCol="0" anchor="ctr"/>
          <a:lstStyle/>
          <a:p>
            <a:pPr indent="0" marL="0">
              <a:buNone/>
            </a:pPr>
            <a:r>
              <a:rPr lang="en-US" sz="2500" b="1" dirty="0">
                <a:solidFill>
                  <a:srgbClr val="14213D"/>
                </a:solidFill>
                <a:latin typeface="Calibri" pitchFamily="34" charset="0"/>
                <a:ea typeface="Calibri" pitchFamily="34" charset="-122"/>
                <a:cs typeface="Calibri" pitchFamily="34" charset="-120"/>
              </a:rPr>
              <a:t>RQ6: the best bet depends on the label budget</a:t>
            </a:r>
            <a:endParaRPr lang="en-US" sz="2500" dirty="0"/>
          </a:p>
        </p:txBody>
      </p:sp>
      <p:sp>
        <p:nvSpPr>
          <p:cNvPr id="4" name="Text 2"/>
          <p:cNvSpPr txBox="1"/>
          <p:nvPr/>
        </p:nvSpPr>
        <p:spPr>
          <a:xfrm>
            <a:off x="411480" y="758952"/>
            <a:ext cx="8321040" cy="32004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SST-2 accuracy by model family (mean of 3 seeds)</a:t>
            </a:r>
            <a:endParaRPr lang="en-US" sz="1250" dirty="0"/>
          </a:p>
        </p:txBody>
      </p:sp>
      <p:pic>
        <p:nvPicPr>
          <p:cNvPr id="5" name="Image 0" descr="/home/claude/tiny-nlp-research/results/figures/fig_families.png">    </p:cNvPr>
          <p:cNvPicPr>
            <a:picLocks noChangeAspect="1"/>
          </p:cNvPicPr>
          <p:nvPr/>
        </p:nvPicPr>
        <p:blipFill>
          <a:blip r:embed="rId1"/>
          <a:srcRect l="0" r="0" t="0" b="0"/>
          <a:stretch/>
        </p:blipFill>
        <p:spPr>
          <a:xfrm>
            <a:off x="365760" y="1170432"/>
            <a:ext cx="8412480" cy="3246120"/>
          </a:xfrm>
          <a:prstGeom prst="rect">
            <a:avLst/>
          </a:prstGeom>
        </p:spPr>
      </p:pic>
      <p:sp>
        <p:nvSpPr>
          <p:cNvPr id="6" name="Text 3"/>
          <p:cNvSpPr txBox="1"/>
          <p:nvPr/>
        </p:nvSpPr>
        <p:spPr>
          <a:xfrm>
            <a:off x="411480" y="4480560"/>
            <a:ext cx="8321040" cy="64008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1F2937"/>
                </a:solidFill>
                <a:latin typeface="Calibri" pitchFamily="34" charset="0"/>
                <a:ea typeface="Calibri" pitchFamily="34" charset="-122"/>
                <a:cs typeface="Calibri" pitchFamily="34" charset="-120"/>
              </a:rPr>
              <a:t>fastText (same 1.2M words) is the BEST model at 100-300 labels, beats MLM at n=1000 (70.2 vs 65.7) - then plateaus at 71.2%</a:t>
            </a:r>
            <a:endParaRPr lang="en-US" sz="1150" dirty="0"/>
          </a:p>
          <a:p>
            <a:pPr marL="342900" indent="-342900">
              <a:spcAft>
                <a:spcPts val="700"/>
              </a:spcAft>
              <a:buSzPct val="100000"/>
              <a:buChar char="•"/>
            </a:pPr>
            <a:r>
              <a:rPr lang="en-US" sz="1150" dirty="0">
                <a:solidFill>
                  <a:srgbClr val="1F2937"/>
                </a:solidFill>
                <a:latin typeface="Calibri" pitchFamily="34" charset="0"/>
                <a:ea typeface="Calibri" pitchFamily="34" charset="-122"/>
                <a:cs typeface="Calibri" pitchFamily="34" charset="-120"/>
              </a:rPr>
              <a:t>VADER (0 task labels): 69.4% - worth ~840 TF-IDF labels</a:t>
            </a:r>
            <a:endParaRPr lang="en-US" sz="1150" dirty="0"/>
          </a:p>
          <a:p>
            <a:pPr marL="342900" indent="-342900">
              <a:spcAft>
                <a:spcPts val="700"/>
              </a:spcAft>
              <a:buSzPct val="100000"/>
              <a:buChar char="•"/>
            </a:pPr>
            <a:r>
              <a:rPr lang="en-US" sz="1150" dirty="0">
                <a:solidFill>
                  <a:srgbClr val="1F2937"/>
                </a:solidFill>
                <a:latin typeface="Calibri" pitchFamily="34" charset="0"/>
                <a:ea typeface="Calibri" pitchFamily="34" charset="-122"/>
                <a:cs typeface="Calibri" pitchFamily="34" charset="-120"/>
              </a:rPr>
              <a:t>Character n-grams: best typo robustness (78.7% at 30% typos)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B9E77"/>
          </a:solidFill>
          <a:ln w="12700">
            <a:solidFill>
              <a:srgbClr val="1B9E77"/>
            </a:solidFill>
            <a:prstDash val="solid"/>
          </a:ln>
        </p:spPr>
      </p:sp>
      <p:sp>
        <p:nvSpPr>
          <p:cNvPr id="3" name="Text 1"/>
          <p:cNvSpPr txBox="1"/>
          <p:nvPr/>
        </p:nvSpPr>
        <p:spPr>
          <a:xfrm>
            <a:off x="411480" y="228600"/>
            <a:ext cx="7863840" cy="548640"/>
          </a:xfrm>
          <a:prstGeom prst="rect">
            <a:avLst/>
          </a:prstGeom>
          <a:noFill/>
          <a:ln/>
        </p:spPr>
        <p:txBody>
          <a:bodyPr wrap="square" lIns="0" tIns="0" rIns="0" bIns="0" rtlCol="0" anchor="ctr"/>
          <a:lstStyle/>
          <a:p>
            <a:pPr indent="0" marL="0">
              <a:buNone/>
            </a:pPr>
            <a:r>
              <a:rPr lang="en-US" sz="2500" b="1" dirty="0">
                <a:solidFill>
                  <a:srgbClr val="14213D"/>
                </a:solidFill>
                <a:latin typeface="Calibri" pitchFamily="34" charset="0"/>
                <a:ea typeface="Calibri" pitchFamily="34" charset="-122"/>
                <a:cs typeface="Calibri" pitchFamily="34" charset="-120"/>
              </a:rPr>
              <a:t>A currency for comparison: label-equivalence</a:t>
            </a:r>
            <a:endParaRPr lang="en-US" sz="2500" dirty="0"/>
          </a:p>
        </p:txBody>
      </p:sp>
      <p:sp>
        <p:nvSpPr>
          <p:cNvPr id="4" name="Text 2"/>
          <p:cNvSpPr txBox="1"/>
          <p:nvPr/>
        </p:nvSpPr>
        <p:spPr>
          <a:xfrm>
            <a:off x="411480" y="758952"/>
            <a:ext cx="8321040" cy="32004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How many TF-IDF labels is each model worth? (interpolated on the TF-IDF curve)</a:t>
            </a:r>
            <a:endParaRPr lang="en-US" sz="12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11480" y="1234440"/>
          <a:ext cx="8321040" cy="914400"/>
        </p:xfrm>
        <a:graphic>
          <a:graphicData uri="http://schemas.openxmlformats.org/drawingml/2006/table">
            <a:tbl>
              <a:tblPr/>
              <a:tblGrid>
                <a:gridCol w="3749040"/>
                <a:gridCol w="2286000"/>
                <a:gridCol w="2286000"/>
              </a:tblGrid>
              <a:tr h="36576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n = 1,000</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n = 6,920</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4213D"/>
                    </a:solidFill>
                  </a:tcPr>
                </a:tc>
              </a:tr>
              <a:tr h="365760">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VADER (0 labels)</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8"/>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~840</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8"/>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8"/>
                    </a:solidFill>
                  </a:tcPr>
                </a:tc>
              </a:tr>
              <a:tr h="365760">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fastText (same words)</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~960</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~1,120</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365760">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Tiny-BERT +MLM (ours)</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8"/>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~450</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8"/>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~3,000</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8"/>
                    </a:solidFill>
                  </a:tcPr>
                </a:tc>
              </a:tr>
              <a:tr h="365760">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BERT-Tiny (public)</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~2,040</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&gt;6,920</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365760">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DistilBERT (public)</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8"/>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&gt;6,920</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8"/>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&gt;6,920</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8"/>
                    </a:solidFill>
                  </a:tcPr>
                </a:tc>
              </a:tr>
            </a:tbl>
          </a:graphicData>
        </a:graphic>
      </p:graphicFrame>
      <p:sp>
        <p:nvSpPr>
          <p:cNvPr id="6" name="Shape 3"/>
          <p:cNvSpPr/>
          <p:nvPr/>
        </p:nvSpPr>
        <p:spPr>
          <a:xfrm>
            <a:off x="411480" y="3794760"/>
            <a:ext cx="4023360" cy="1188720"/>
          </a:xfrm>
          <a:prstGeom prst="roundRect">
            <a:avLst>
              <a:gd name="adj" fmla="val 4615"/>
            </a:avLst>
          </a:prstGeom>
          <a:solidFill>
            <a:srgbClr val="F4F6F8"/>
          </a:solidFill>
          <a:ln w="12700">
            <a:solidFill>
              <a:srgbClr val="F4F6F8"/>
            </a:solidFill>
            <a:prstDash val="solid"/>
          </a:ln>
        </p:spPr>
      </p:sp>
      <p:sp>
        <p:nvSpPr>
          <p:cNvPr id="7" name="Text 4"/>
          <p:cNvSpPr txBox="1"/>
          <p:nvPr/>
        </p:nvSpPr>
        <p:spPr>
          <a:xfrm>
            <a:off x="548640" y="3867912"/>
            <a:ext cx="3749040" cy="621792"/>
          </a:xfrm>
          <a:prstGeom prst="rect">
            <a:avLst/>
          </a:prstGeom>
          <a:noFill/>
          <a:ln/>
        </p:spPr>
        <p:txBody>
          <a:bodyPr wrap="square" lIns="0" tIns="0" rIns="0" bIns="0" rtlCol="0" anchor="ctr"/>
          <a:lstStyle/>
          <a:p>
            <a:pPr indent="0" marL="0">
              <a:buNone/>
            </a:pPr>
            <a:r>
              <a:rPr lang="en-US" sz="2700" b="1" dirty="0">
                <a:solidFill>
                  <a:srgbClr val="D95F02"/>
                </a:solidFill>
                <a:latin typeface="Calibri" pitchFamily="34" charset="0"/>
                <a:ea typeface="Calibri" pitchFamily="34" charset="-122"/>
                <a:cs typeface="Calibri" pitchFamily="34" charset="-120"/>
              </a:rPr>
              <a:t>0.45x</a:t>
            </a:r>
            <a:endParaRPr lang="en-US" sz="2700" dirty="0"/>
          </a:p>
        </p:txBody>
      </p:sp>
      <p:sp>
        <p:nvSpPr>
          <p:cNvPr id="8" name="Text 5"/>
          <p:cNvSpPr txBox="1"/>
          <p:nvPr/>
        </p:nvSpPr>
        <p:spPr>
          <a:xfrm>
            <a:off x="548640" y="4489704"/>
            <a:ext cx="3749040" cy="457200"/>
          </a:xfrm>
          <a:prstGeom prst="rect">
            <a:avLst/>
          </a:prstGeom>
          <a:noFill/>
          <a:ln/>
        </p:spPr>
        <p:txBody>
          <a:bodyPr wrap="square" lIns="0" tIns="0" rIns="0" bIns="0" rtlCol="0" anchor="t"/>
          <a:lstStyle/>
          <a:p>
            <a:pPr indent="0" marL="0">
              <a:buNone/>
            </a:pPr>
            <a:r>
              <a:rPr lang="en-US" sz="1100" dirty="0">
                <a:solidFill>
                  <a:srgbClr val="5B6472"/>
                </a:solidFill>
                <a:latin typeface="Calibri" pitchFamily="34" charset="0"/>
                <a:ea typeface="Calibri" pitchFamily="34" charset="-122"/>
                <a:cs typeface="Calibri" pitchFamily="34" charset="-120"/>
              </a:rPr>
              <a:t>our pre-trained tiny BERT: 1,000 labels ~ 450 TF-IDF labels</a:t>
            </a:r>
            <a:endParaRPr lang="en-US" sz="1100" dirty="0"/>
          </a:p>
        </p:txBody>
      </p:sp>
      <p:sp>
        <p:nvSpPr>
          <p:cNvPr id="9" name="Shape 6"/>
          <p:cNvSpPr/>
          <p:nvPr/>
        </p:nvSpPr>
        <p:spPr>
          <a:xfrm>
            <a:off x="4709160" y="3794760"/>
            <a:ext cx="4023360" cy="1188720"/>
          </a:xfrm>
          <a:prstGeom prst="roundRect">
            <a:avLst>
              <a:gd name="adj" fmla="val 4615"/>
            </a:avLst>
          </a:prstGeom>
          <a:solidFill>
            <a:srgbClr val="F4F6F8"/>
          </a:solidFill>
          <a:ln w="12700">
            <a:solidFill>
              <a:srgbClr val="F4F6F8"/>
            </a:solidFill>
            <a:prstDash val="solid"/>
          </a:ln>
        </p:spPr>
      </p:sp>
      <p:sp>
        <p:nvSpPr>
          <p:cNvPr id="10" name="Text 7"/>
          <p:cNvSpPr txBox="1"/>
          <p:nvPr/>
        </p:nvSpPr>
        <p:spPr>
          <a:xfrm>
            <a:off x="4846320" y="3867912"/>
            <a:ext cx="3749040" cy="621792"/>
          </a:xfrm>
          <a:prstGeom prst="rect">
            <a:avLst/>
          </a:prstGeom>
          <a:noFill/>
          <a:ln/>
        </p:spPr>
        <p:txBody>
          <a:bodyPr wrap="square" lIns="0" tIns="0" rIns="0" bIns="0" rtlCol="0" anchor="ctr"/>
          <a:lstStyle/>
          <a:p>
            <a:pPr indent="0" marL="0">
              <a:buNone/>
            </a:pPr>
            <a:r>
              <a:rPr lang="en-US" sz="2700" b="1" dirty="0">
                <a:solidFill>
                  <a:srgbClr val="1F78B4"/>
                </a:solidFill>
                <a:latin typeface="Calibri" pitchFamily="34" charset="0"/>
                <a:ea typeface="Calibri" pitchFamily="34" charset="-122"/>
                <a:cs typeface="Calibri" pitchFamily="34" charset="-120"/>
              </a:rPr>
              <a:t>6.9x</a:t>
            </a:r>
            <a:endParaRPr lang="en-US" sz="2700" dirty="0"/>
          </a:p>
        </p:txBody>
      </p:sp>
      <p:sp>
        <p:nvSpPr>
          <p:cNvPr id="11" name="Text 8"/>
          <p:cNvSpPr txBox="1"/>
          <p:nvPr/>
        </p:nvSpPr>
        <p:spPr>
          <a:xfrm>
            <a:off x="4846320" y="4489704"/>
            <a:ext cx="3749040" cy="457200"/>
          </a:xfrm>
          <a:prstGeom prst="rect">
            <a:avLst/>
          </a:prstGeom>
          <a:noFill/>
          <a:ln/>
        </p:spPr>
        <p:txBody>
          <a:bodyPr wrap="square" lIns="0" tIns="0" rIns="0" bIns="0" rtlCol="0" anchor="t"/>
          <a:lstStyle/>
          <a:p>
            <a:pPr indent="0" marL="0">
              <a:buNone/>
            </a:pPr>
            <a:r>
              <a:rPr lang="en-US" sz="1100" dirty="0">
                <a:solidFill>
                  <a:srgbClr val="5B6472"/>
                </a:solidFill>
                <a:latin typeface="Calibri" pitchFamily="34" charset="0"/>
                <a:ea typeface="Calibri" pitchFamily="34" charset="-122"/>
                <a:cs typeface="Calibri" pitchFamily="34" charset="-120"/>
              </a:rPr>
              <a:t>DistilBERT with 1,000 labels beats TF-IDF with all 6,920</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B9E77"/>
          </a:solidFill>
          <a:ln w="12700">
            <a:solidFill>
              <a:srgbClr val="1B9E77"/>
            </a:solidFill>
            <a:prstDash val="solid"/>
          </a:ln>
        </p:spPr>
      </p:sp>
      <p:sp>
        <p:nvSpPr>
          <p:cNvPr id="3" name="Text 1"/>
          <p:cNvSpPr txBox="1"/>
          <p:nvPr/>
        </p:nvSpPr>
        <p:spPr>
          <a:xfrm>
            <a:off x="411480" y="228600"/>
            <a:ext cx="7863840" cy="548640"/>
          </a:xfrm>
          <a:prstGeom prst="rect">
            <a:avLst/>
          </a:prstGeom>
          <a:noFill/>
          <a:ln/>
        </p:spPr>
        <p:txBody>
          <a:bodyPr wrap="square" lIns="0" tIns="0" rIns="0" bIns="0" rtlCol="0" anchor="ctr"/>
          <a:lstStyle/>
          <a:p>
            <a:pPr indent="0" marL="0">
              <a:buNone/>
            </a:pPr>
            <a:r>
              <a:rPr lang="en-US" sz="2500" b="1" dirty="0">
                <a:solidFill>
                  <a:srgbClr val="14213D"/>
                </a:solidFill>
                <a:latin typeface="Calibri" pitchFamily="34" charset="0"/>
                <a:ea typeface="Calibri" pitchFamily="34" charset="-122"/>
                <a:cs typeface="Calibri" pitchFamily="34" charset="-120"/>
              </a:rPr>
              <a:t>RQ3: the probe improves, fine-tuning does not</a:t>
            </a:r>
            <a:endParaRPr lang="en-US" sz="2500" dirty="0"/>
          </a:p>
        </p:txBody>
      </p:sp>
      <p:sp>
        <p:nvSpPr>
          <p:cNvPr id="4" name="Text 2"/>
          <p:cNvSpPr txBox="1"/>
          <p:nvPr/>
        </p:nvSpPr>
        <p:spPr>
          <a:xfrm>
            <a:off x="411480" y="758952"/>
            <a:ext cx="8321040" cy="32004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Checkpoints after 0-5,000 MLM steps; n = 1,000 labels; 3 seeds</a:t>
            </a:r>
            <a:endParaRPr lang="en-US" sz="1250" dirty="0"/>
          </a:p>
        </p:txBody>
      </p:sp>
      <p:pic>
        <p:nvPicPr>
          <p:cNvPr id="5" name="Image 0" descr="/home/claude/tiny-nlp-research/results/figures/fig_ckpt.png">    </p:cNvPr>
          <p:cNvPicPr>
            <a:picLocks noChangeAspect="1"/>
          </p:cNvPicPr>
          <p:nvPr/>
        </p:nvPicPr>
        <p:blipFill>
          <a:blip r:embed="rId1"/>
          <a:srcRect l="0" r="0" t="0" b="0"/>
          <a:stretch/>
        </p:blipFill>
        <p:spPr>
          <a:xfrm>
            <a:off x="411480" y="1188720"/>
            <a:ext cx="4663440" cy="3246120"/>
          </a:xfrm>
          <a:prstGeom prst="rect">
            <a:avLst/>
          </a:prstGeom>
        </p:spPr>
      </p:pic>
      <p:sp>
        <p:nvSpPr>
          <p:cNvPr id="6" name="Shape 3"/>
          <p:cNvSpPr/>
          <p:nvPr/>
        </p:nvSpPr>
        <p:spPr>
          <a:xfrm>
            <a:off x="5349240" y="1280160"/>
            <a:ext cx="3383280" cy="1188720"/>
          </a:xfrm>
          <a:prstGeom prst="roundRect">
            <a:avLst>
              <a:gd name="adj" fmla="val 4615"/>
            </a:avLst>
          </a:prstGeom>
          <a:solidFill>
            <a:srgbClr val="F4F6F8"/>
          </a:solidFill>
          <a:ln w="12700">
            <a:solidFill>
              <a:srgbClr val="F4F6F8"/>
            </a:solidFill>
            <a:prstDash val="solid"/>
          </a:ln>
        </p:spPr>
      </p:sp>
      <p:sp>
        <p:nvSpPr>
          <p:cNvPr id="7" name="Text 4"/>
          <p:cNvSpPr txBox="1"/>
          <p:nvPr/>
        </p:nvSpPr>
        <p:spPr>
          <a:xfrm>
            <a:off x="5486400" y="1353312"/>
            <a:ext cx="3108960" cy="621792"/>
          </a:xfrm>
          <a:prstGeom prst="rect">
            <a:avLst/>
          </a:prstGeom>
          <a:noFill/>
          <a:ln/>
        </p:spPr>
        <p:txBody>
          <a:bodyPr wrap="square" lIns="0" tIns="0" rIns="0" bIns="0" rtlCol="0" anchor="ctr"/>
          <a:lstStyle/>
          <a:p>
            <a:pPr indent="0" marL="0">
              <a:buNone/>
            </a:pPr>
            <a:r>
              <a:rPr lang="en-US" sz="2700" b="1" dirty="0">
                <a:solidFill>
                  <a:srgbClr val="1B9E77"/>
                </a:solidFill>
                <a:latin typeface="Calibri" pitchFamily="34" charset="0"/>
                <a:ea typeface="Calibri" pitchFamily="34" charset="-122"/>
                <a:cs typeface="Calibri" pitchFamily="34" charset="-120"/>
              </a:rPr>
              <a:t>56.4 -&gt; 59.4</a:t>
            </a:r>
            <a:endParaRPr lang="en-US" sz="2700" dirty="0"/>
          </a:p>
        </p:txBody>
      </p:sp>
      <p:sp>
        <p:nvSpPr>
          <p:cNvPr id="8" name="Text 5"/>
          <p:cNvSpPr txBox="1"/>
          <p:nvPr/>
        </p:nvSpPr>
        <p:spPr>
          <a:xfrm>
            <a:off x="5486400" y="1975104"/>
            <a:ext cx="3108960" cy="457200"/>
          </a:xfrm>
          <a:prstGeom prst="rect">
            <a:avLst/>
          </a:prstGeom>
          <a:noFill/>
          <a:ln/>
        </p:spPr>
        <p:txBody>
          <a:bodyPr wrap="square" lIns="0" tIns="0" rIns="0" bIns="0" rtlCol="0" anchor="t"/>
          <a:lstStyle/>
          <a:p>
            <a:pPr indent="0" marL="0">
              <a:buNone/>
            </a:pPr>
            <a:r>
              <a:rPr lang="en-US" sz="1100" dirty="0">
                <a:solidFill>
                  <a:srgbClr val="5B6472"/>
                </a:solidFill>
                <a:latin typeface="Calibri" pitchFamily="34" charset="0"/>
                <a:ea typeface="Calibri" pitchFamily="34" charset="-122"/>
                <a:cs typeface="Calibri" pitchFamily="34" charset="-120"/>
              </a:rPr>
              <a:t>frozen linear probe: MLM does store sentiment info</a:t>
            </a:r>
            <a:endParaRPr lang="en-US" sz="1100" dirty="0"/>
          </a:p>
        </p:txBody>
      </p:sp>
      <p:sp>
        <p:nvSpPr>
          <p:cNvPr id="9" name="Shape 6"/>
          <p:cNvSpPr/>
          <p:nvPr/>
        </p:nvSpPr>
        <p:spPr>
          <a:xfrm>
            <a:off x="5349240" y="2606040"/>
            <a:ext cx="3383280" cy="1188720"/>
          </a:xfrm>
          <a:prstGeom prst="roundRect">
            <a:avLst>
              <a:gd name="adj" fmla="val 4615"/>
            </a:avLst>
          </a:prstGeom>
          <a:solidFill>
            <a:srgbClr val="F4F6F8"/>
          </a:solidFill>
          <a:ln w="12700">
            <a:solidFill>
              <a:srgbClr val="F4F6F8"/>
            </a:solidFill>
            <a:prstDash val="solid"/>
          </a:ln>
        </p:spPr>
      </p:sp>
      <p:sp>
        <p:nvSpPr>
          <p:cNvPr id="10" name="Text 7"/>
          <p:cNvSpPr txBox="1"/>
          <p:nvPr/>
        </p:nvSpPr>
        <p:spPr>
          <a:xfrm>
            <a:off x="5486400" y="2679192"/>
            <a:ext cx="3108960" cy="621792"/>
          </a:xfrm>
          <a:prstGeom prst="rect">
            <a:avLst/>
          </a:prstGeom>
          <a:noFill/>
          <a:ln/>
        </p:spPr>
        <p:txBody>
          <a:bodyPr wrap="square" lIns="0" tIns="0" rIns="0" bIns="0" rtlCol="0" anchor="ctr"/>
          <a:lstStyle/>
          <a:p>
            <a:pPr indent="0" marL="0">
              <a:buNone/>
            </a:pPr>
            <a:r>
              <a:rPr lang="en-US" sz="2700" b="1" dirty="0">
                <a:solidFill>
                  <a:srgbClr val="D95F02"/>
                </a:solidFill>
                <a:latin typeface="Calibri" pitchFamily="34" charset="0"/>
                <a:ea typeface="Calibri" pitchFamily="34" charset="-122"/>
                <a:cs typeface="Calibri" pitchFamily="34" charset="-120"/>
              </a:rPr>
              <a:t>69.7 -&gt; 65.7</a:t>
            </a:r>
            <a:endParaRPr lang="en-US" sz="2700" dirty="0"/>
          </a:p>
        </p:txBody>
      </p:sp>
      <p:sp>
        <p:nvSpPr>
          <p:cNvPr id="11" name="Text 8"/>
          <p:cNvSpPr txBox="1"/>
          <p:nvPr/>
        </p:nvSpPr>
        <p:spPr>
          <a:xfrm>
            <a:off x="5486400" y="3300984"/>
            <a:ext cx="3108960" cy="457200"/>
          </a:xfrm>
          <a:prstGeom prst="rect">
            <a:avLst/>
          </a:prstGeom>
          <a:noFill/>
          <a:ln/>
        </p:spPr>
        <p:txBody>
          <a:bodyPr wrap="square" lIns="0" tIns="0" rIns="0" bIns="0" rtlCol="0" anchor="t"/>
          <a:lstStyle/>
          <a:p>
            <a:pPr indent="0" marL="0">
              <a:buNone/>
            </a:pPr>
            <a:r>
              <a:rPr lang="en-US" sz="1100" dirty="0">
                <a:solidFill>
                  <a:srgbClr val="5B6472"/>
                </a:solidFill>
                <a:latin typeface="Calibri" pitchFamily="34" charset="0"/>
                <a:ea typeface="Calibri" pitchFamily="34" charset="-122"/>
                <a:cs typeface="Calibri" pitchFamily="34" charset="-120"/>
              </a:rPr>
              <a:t>fine-tuned accuracy falls with pre-training</a:t>
            </a:r>
            <a:endParaRPr lang="en-US" sz="1100" dirty="0"/>
          </a:p>
        </p:txBody>
      </p:sp>
      <p:sp>
        <p:nvSpPr>
          <p:cNvPr id="12" name="Text 9"/>
          <p:cNvSpPr txBox="1"/>
          <p:nvPr/>
        </p:nvSpPr>
        <p:spPr>
          <a:xfrm>
            <a:off x="5349240" y="3931920"/>
            <a:ext cx="3383280" cy="548640"/>
          </a:xfrm>
          <a:prstGeom prst="rect">
            <a:avLst/>
          </a:prstGeom>
          <a:noFill/>
          <a:ln/>
        </p:spPr>
        <p:txBody>
          <a:bodyPr wrap="square" lIns="0" tIns="0" rIns="0" bIns="0" rtlCol="0" anchor="ctr"/>
          <a:lstStyle/>
          <a:p>
            <a:pPr indent="0" marL="0">
              <a:buNone/>
            </a:pPr>
            <a:r>
              <a:rPr lang="en-US" sz="1250" i="1" dirty="0">
                <a:solidFill>
                  <a:srgbClr val="5B6472"/>
                </a:solidFill>
                <a:latin typeface="Calibri" pitchFamily="34" charset="0"/>
                <a:ea typeface="Calibri" pitchFamily="34" charset="-122"/>
                <a:cs typeface="Calibri" pitchFamily="34" charset="-120"/>
              </a:rPr>
              <a:t>A probe alone would have predicted a benefit.</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B9E77"/>
          </a:solidFill>
          <a:ln w="12700">
            <a:solidFill>
              <a:srgbClr val="1B9E77"/>
            </a:solidFill>
            <a:prstDash val="solid"/>
          </a:ln>
        </p:spPr>
      </p:sp>
      <p:sp>
        <p:nvSpPr>
          <p:cNvPr id="3" name="Text 1"/>
          <p:cNvSpPr txBox="1"/>
          <p:nvPr/>
        </p:nvSpPr>
        <p:spPr>
          <a:xfrm>
            <a:off x="411480" y="228600"/>
            <a:ext cx="7863840" cy="548640"/>
          </a:xfrm>
          <a:prstGeom prst="rect">
            <a:avLst/>
          </a:prstGeom>
          <a:noFill/>
          <a:ln/>
        </p:spPr>
        <p:txBody>
          <a:bodyPr wrap="square" lIns="0" tIns="0" rIns="0" bIns="0" rtlCol="0" anchor="ctr"/>
          <a:lstStyle/>
          <a:p>
            <a:pPr indent="0" marL="0">
              <a:buNone/>
            </a:pPr>
            <a:r>
              <a:rPr lang="en-US" sz="2500" b="1" dirty="0">
                <a:solidFill>
                  <a:srgbClr val="14213D"/>
                </a:solidFill>
                <a:latin typeface="Calibri" pitchFamily="34" charset="0"/>
                <a:ea typeface="Calibri" pitchFamily="34" charset="-122"/>
                <a:cs typeface="Calibri" pitchFamily="34" charset="-120"/>
              </a:rPr>
              <a:t>RQ7: the deficit hides in plain sight</a:t>
            </a:r>
            <a:endParaRPr lang="en-US" sz="2500" dirty="0"/>
          </a:p>
        </p:txBody>
      </p:sp>
      <p:sp>
        <p:nvSpPr>
          <p:cNvPr id="4" name="Text 2"/>
          <p:cNvSpPr txBox="1"/>
          <p:nvPr/>
        </p:nvSpPr>
        <p:spPr>
          <a:xfrm>
            <a:off x="411480" y="758952"/>
            <a:ext cx="8321040" cy="32004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Where does pre-training lose, and does confidence track difficulty?</a:t>
            </a:r>
            <a:endParaRPr lang="en-US" sz="1250" dirty="0"/>
          </a:p>
        </p:txBody>
      </p:sp>
      <p:pic>
        <p:nvPicPr>
          <p:cNvPr id="5" name="Image 0" descr="/home/claude/tiny-nlp-research/results/figures/fig_ambiguity.png">    </p:cNvPr>
          <p:cNvPicPr>
            <a:picLocks noChangeAspect="1"/>
          </p:cNvPicPr>
          <p:nvPr/>
        </p:nvPicPr>
        <p:blipFill>
          <a:blip r:embed="rId1"/>
          <a:srcRect l="0" r="0" t="0" b="0"/>
          <a:stretch/>
        </p:blipFill>
        <p:spPr>
          <a:xfrm>
            <a:off x="365760" y="1170432"/>
            <a:ext cx="8412480" cy="2880360"/>
          </a:xfrm>
          <a:prstGeom prst="rect">
            <a:avLst/>
          </a:prstGeom>
        </p:spPr>
      </p:pic>
      <p:sp>
        <p:nvSpPr>
          <p:cNvPr id="6" name="Text 3"/>
          <p:cNvSpPr txBox="1"/>
          <p:nvPr/>
        </p:nvSpPr>
        <p:spPr>
          <a:xfrm>
            <a:off x="411480" y="4114800"/>
            <a:ext cx="8321040" cy="91440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1F2937"/>
                </a:solidFill>
                <a:latin typeface="Calibri" pitchFamily="34" charset="0"/>
                <a:ea typeface="Calibri" pitchFamily="34" charset="-122"/>
                <a:cs typeface="Calibri" pitchFamily="34" charset="-120"/>
              </a:rPr>
              <a:t>-4.7 pts on STRONG (clear) sentences; only -1.3 on WEAK (ambiguous) ones - the deficit is concentrated on the easy cases</a:t>
            </a:r>
            <a:endParaRPr lang="en-US" sz="1150" dirty="0"/>
          </a:p>
          <a:p>
            <a:pPr marL="342900" indent="-342900">
              <a:spcAft>
                <a:spcPts val="700"/>
              </a:spcAft>
              <a:buSzPct val="100000"/>
              <a:buChar char="•"/>
            </a:pPr>
            <a:r>
              <a:rPr lang="en-US" sz="1150" dirty="0">
                <a:solidFill>
                  <a:srgbClr val="1F2937"/>
                </a:solidFill>
                <a:latin typeface="Calibri" pitchFamily="34" charset="0"/>
                <a:ea typeface="Calibri" pitchFamily="34" charset="-122"/>
                <a:cs typeface="Calibri" pitchFamily="34" charset="-120"/>
              </a:rPr>
              <a:t>Best ambiguity-awareness AUROC across ALL models: 0.62 (chance = 0.5) - nobody's confidence tracks ambiguity well</a:t>
            </a:r>
            <a:endParaRPr lang="en-US" sz="1150" dirty="0"/>
          </a:p>
          <a:p>
            <a:pPr marL="342900" indent="-342900">
              <a:spcAft>
                <a:spcPts val="700"/>
              </a:spcAft>
              <a:buSzPct val="100000"/>
              <a:buChar char="•"/>
            </a:pPr>
            <a:r>
              <a:rPr lang="en-US" sz="1150" dirty="0">
                <a:solidFill>
                  <a:srgbClr val="1F2937"/>
                </a:solidFill>
                <a:latin typeface="Calibri" pitchFamily="34" charset="0"/>
                <a:ea typeface="Calibri" pitchFamily="34" charset="-122"/>
                <a:cs typeface="Calibri" pitchFamily="34" charset="-120"/>
              </a:rPr>
              <a:t>Transformers on 1,000 labels are badly overconfident: ECE 23-26% vs 3-6% for TF-IDF</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B9E77"/>
          </a:solidFill>
          <a:ln w="12700">
            <a:solidFill>
              <a:srgbClr val="1B9E77"/>
            </a:solidFill>
            <a:prstDash val="solid"/>
          </a:ln>
        </p:spPr>
      </p:sp>
      <p:sp>
        <p:nvSpPr>
          <p:cNvPr id="3" name="Text 1"/>
          <p:cNvSpPr txBox="1"/>
          <p:nvPr/>
        </p:nvSpPr>
        <p:spPr>
          <a:xfrm>
            <a:off x="411480" y="228600"/>
            <a:ext cx="7863840" cy="548640"/>
          </a:xfrm>
          <a:prstGeom prst="rect">
            <a:avLst/>
          </a:prstGeom>
          <a:noFill/>
          <a:ln/>
        </p:spPr>
        <p:txBody>
          <a:bodyPr wrap="square" lIns="0" tIns="0" rIns="0" bIns="0" rtlCol="0" anchor="ctr"/>
          <a:lstStyle/>
          <a:p>
            <a:pPr indent="0" marL="0">
              <a:buNone/>
            </a:pPr>
            <a:r>
              <a:rPr lang="en-US" sz="2500" b="1" dirty="0">
                <a:solidFill>
                  <a:srgbClr val="14213D"/>
                </a:solidFill>
                <a:latin typeface="Calibri" pitchFamily="34" charset="0"/>
                <a:ea typeface="Calibri" pitchFamily="34" charset="-122"/>
                <a:cs typeface="Calibri" pitchFamily="34" charset="-120"/>
              </a:rPr>
              <a:t>RQ2: typos and domain shift</a:t>
            </a:r>
            <a:endParaRPr lang="en-US" sz="2500" dirty="0"/>
          </a:p>
        </p:txBody>
      </p:sp>
      <p:sp>
        <p:nvSpPr>
          <p:cNvPr id="4" name="Text 2"/>
          <p:cNvSpPr txBox="1"/>
          <p:nvPr/>
        </p:nvSpPr>
        <p:spPr>
          <a:xfrm>
            <a:off x="411480" y="758952"/>
            <a:ext cx="8321040" cy="32004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Accuracy (%) at n = 6,920 labeled sentences</a:t>
            </a:r>
            <a:endParaRPr lang="en-US" sz="1250" dirty="0"/>
          </a:p>
        </p:txBody>
      </p:sp>
      <p:graphicFrame>
        <p:nvGraphicFramePr>
          <p:cNvPr id="5" name="Chart 0" descr=""/>
          <p:cNvGraphicFramePr/>
          <p:nvPr/>
        </p:nvGraphicFramePr>
        <p:xfrm>
          <a:off x="320040" y="1188720"/>
          <a:ext cx="5669280" cy="338328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6126480" y="1325880"/>
            <a:ext cx="2651760" cy="320040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1F2937"/>
                </a:solidFill>
                <a:latin typeface="Calibri" pitchFamily="34" charset="0"/>
                <a:ea typeface="Calibri" pitchFamily="34" charset="-122"/>
                <a:cs typeface="Calibri" pitchFamily="34" charset="-120"/>
              </a:rPr>
              <a:t>30% typos: transformers lose 4.9-7.1 pts vs 3.8 for TF-IDF</a:t>
            </a:r>
            <a:endParaRPr lang="en-US" sz="1250" dirty="0"/>
          </a:p>
          <a:p>
            <a:pPr marL="342900" indent="-342900">
              <a:spcAft>
                <a:spcPts val="700"/>
              </a:spcAft>
              <a:buSzPct val="100000"/>
              <a:buChar char="•"/>
            </a:pPr>
            <a:r>
              <a:rPr lang="en-US" sz="1250" dirty="0">
                <a:solidFill>
                  <a:srgbClr val="1F2937"/>
                </a:solidFill>
                <a:latin typeface="Calibri" pitchFamily="34" charset="0"/>
                <a:ea typeface="Calibri" pitchFamily="34" charset="-122"/>
                <a:cs typeface="Calibri" pitchFamily="34" charset="-120"/>
              </a:rPr>
              <a:t>OOD: pre-training did not help ours; no public model beat TF-IDF</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B9E77"/>
          </a:solidFill>
          <a:ln w="12700">
            <a:solidFill>
              <a:srgbClr val="1B9E77"/>
            </a:solidFill>
            <a:prstDash val="solid"/>
          </a:ln>
        </p:spPr>
      </p:sp>
      <p:sp>
        <p:nvSpPr>
          <p:cNvPr id="3" name="Text 1"/>
          <p:cNvSpPr txBox="1"/>
          <p:nvPr/>
        </p:nvSpPr>
        <p:spPr>
          <a:xfrm>
            <a:off x="411480" y="228600"/>
            <a:ext cx="7863840" cy="548640"/>
          </a:xfrm>
          <a:prstGeom prst="rect">
            <a:avLst/>
          </a:prstGeom>
          <a:noFill/>
          <a:ln/>
        </p:spPr>
        <p:txBody>
          <a:bodyPr wrap="square" lIns="0" tIns="0" rIns="0" bIns="0" rtlCol="0" anchor="ctr"/>
          <a:lstStyle/>
          <a:p>
            <a:pPr indent="0" marL="0">
              <a:buNone/>
            </a:pPr>
            <a:r>
              <a:rPr lang="en-US" sz="2500" b="1" dirty="0">
                <a:solidFill>
                  <a:srgbClr val="14213D"/>
                </a:solidFill>
                <a:latin typeface="Calibri" pitchFamily="34" charset="0"/>
                <a:ea typeface="Calibri" pitchFamily="34" charset="-122"/>
                <a:cs typeface="Calibri" pitchFamily="34" charset="-120"/>
              </a:rPr>
              <a:t>The twist: pre-training is a scale phenomenon</a:t>
            </a:r>
            <a:endParaRPr lang="en-US" sz="2500" dirty="0"/>
          </a:p>
        </p:txBody>
      </p:sp>
      <p:sp>
        <p:nvSpPr>
          <p:cNvPr id="4" name="Text 2"/>
          <p:cNvSpPr txBox="1"/>
          <p:nvPr/>
        </p:nvSpPr>
        <p:spPr>
          <a:xfrm>
            <a:off x="411480" y="758952"/>
            <a:ext cx="8321040" cy="32004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SST-2 accuracy (%), same fine-tuning code, 3 seeds</a:t>
            </a:r>
            <a:endParaRPr lang="en-US" sz="1250" dirty="0"/>
          </a:p>
        </p:txBody>
      </p:sp>
      <p:graphicFrame>
        <p:nvGraphicFramePr>
          <p:cNvPr id="5" name="Chart 0" descr=""/>
          <p:cNvGraphicFramePr/>
          <p:nvPr/>
        </p:nvGraphicFramePr>
        <p:xfrm>
          <a:off x="320040" y="1188720"/>
          <a:ext cx="5212080" cy="32918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5715000" y="1325880"/>
            <a:ext cx="3017520" cy="329184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1F2937"/>
                </a:solidFill>
                <a:latin typeface="Calibri" pitchFamily="34" charset="0"/>
                <a:ea typeface="Calibri" pitchFamily="34" charset="-122"/>
                <a:cs typeface="Calibri" pitchFamily="34" charset="-120"/>
              </a:rPr>
              <a:t>BERT-Tiny has OUR depth and width: +9.3 pts at n=1k over our pre-trained model</a:t>
            </a:r>
            <a:endParaRPr lang="en-US" sz="1250" dirty="0"/>
          </a:p>
          <a:p>
            <a:pPr marL="342900" indent="-342900">
              <a:spcAft>
                <a:spcPts val="700"/>
              </a:spcAft>
              <a:buSzPct val="100000"/>
              <a:buChar char="•"/>
            </a:pPr>
            <a:r>
              <a:rPr lang="en-US" sz="1250" dirty="0">
                <a:solidFill>
                  <a:srgbClr val="1F2937"/>
                </a:solidFill>
                <a:latin typeface="Calibri" pitchFamily="34" charset="0"/>
                <a:ea typeface="Calibri" pitchFamily="34" charset="-122"/>
                <a:cs typeface="Calibri" pitchFamily="34" charset="-120"/>
              </a:rPr>
              <a:t>DistilBERT: +16/+9 pts over TF-IDF, ~26 min to fine-tune vs 37 s</a:t>
            </a:r>
            <a:endParaRPr lang="en-US" sz="1250" dirty="0"/>
          </a:p>
          <a:p>
            <a:pPr marL="342900" indent="-342900">
              <a:spcAft>
                <a:spcPts val="700"/>
              </a:spcAft>
              <a:buSzPct val="100000"/>
              <a:buChar char="•"/>
            </a:pPr>
            <a:r>
              <a:rPr lang="en-US" sz="1250" dirty="0">
                <a:solidFill>
                  <a:srgbClr val="1F2937"/>
                </a:solidFill>
                <a:latin typeface="Calibri" pitchFamily="34" charset="0"/>
                <a:ea typeface="Calibri" pitchFamily="34" charset="-122"/>
                <a:cs typeface="Calibri" pitchFamily="34" charset="-120"/>
              </a:rPr>
              <a:t>So: scale, not the recipe, is the missing ingredient</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B9E77"/>
          </a:solidFill>
          <a:ln w="12700">
            <a:solidFill>
              <a:srgbClr val="1B9E77"/>
            </a:solidFill>
            <a:prstDash val="solid"/>
          </a:ln>
        </p:spPr>
      </p:sp>
      <p:sp>
        <p:nvSpPr>
          <p:cNvPr id="3" name="Text 1"/>
          <p:cNvSpPr txBox="1"/>
          <p:nvPr/>
        </p:nvSpPr>
        <p:spPr>
          <a:xfrm>
            <a:off x="411480" y="228600"/>
            <a:ext cx="7863840" cy="548640"/>
          </a:xfrm>
          <a:prstGeom prst="rect">
            <a:avLst/>
          </a:prstGeom>
          <a:noFill/>
          <a:ln/>
        </p:spPr>
        <p:txBody>
          <a:bodyPr wrap="square" lIns="0" tIns="0" rIns="0" bIns="0" rtlCol="0" anchor="ctr"/>
          <a:lstStyle/>
          <a:p>
            <a:pPr indent="0" marL="0">
              <a:buNone/>
            </a:pPr>
            <a:r>
              <a:rPr lang="en-US" sz="2500" b="1" dirty="0">
                <a:solidFill>
                  <a:srgbClr val="14213D"/>
                </a:solidFill>
                <a:latin typeface="Calibri" pitchFamily="34" charset="0"/>
                <a:ea typeface="Calibri" pitchFamily="34" charset="-122"/>
                <a:cs typeface="Calibri" pitchFamily="34" charset="-120"/>
              </a:rPr>
              <a:t>RQ8: does it travel? Cross-domain generalisation</a:t>
            </a:r>
            <a:endParaRPr lang="en-US" sz="2500" dirty="0"/>
          </a:p>
        </p:txBody>
      </p:sp>
      <p:sp>
        <p:nvSpPr>
          <p:cNvPr id="4" name="Text 2"/>
          <p:cNvSpPr txBox="1"/>
          <p:nvPr/>
        </p:nvSpPr>
        <p:spPr>
          <a:xfrm>
            <a:off x="411480" y="758952"/>
            <a:ext cx="8321040" cy="32004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Financial PhraseBank (finance news, real agreement) + Twitter Airline (tweets, real confidence)</a:t>
            </a:r>
            <a:endParaRPr lang="en-US" sz="1250" dirty="0"/>
          </a:p>
        </p:txBody>
      </p:sp>
      <p:pic>
        <p:nvPicPr>
          <p:cNvPr id="5" name="Image 0" descr="/home/claude/tiny-nlp-research/results/figures/fig_cross_domain.png">    </p:cNvPr>
          <p:cNvPicPr>
            <a:picLocks noChangeAspect="1"/>
          </p:cNvPicPr>
          <p:nvPr/>
        </p:nvPicPr>
        <p:blipFill>
          <a:blip r:embed="rId1"/>
          <a:srcRect l="0" r="0" t="0" b="0"/>
          <a:stretch/>
        </p:blipFill>
        <p:spPr>
          <a:xfrm>
            <a:off x="320040" y="1143000"/>
            <a:ext cx="8503920" cy="3017520"/>
          </a:xfrm>
          <a:prstGeom prst="rect">
            <a:avLst/>
          </a:prstGeom>
        </p:spPr>
      </p:pic>
      <p:sp>
        <p:nvSpPr>
          <p:cNvPr id="6" name="Text 3"/>
          <p:cNvSpPr txBox="1"/>
          <p:nvPr/>
        </p:nvSpPr>
        <p:spPr>
          <a:xfrm>
            <a:off x="411480" y="4251960"/>
            <a:ext cx="8321040" cy="82296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1F2937"/>
                </a:solidFill>
                <a:latin typeface="Calibri" pitchFamily="34" charset="0"/>
                <a:ea typeface="Calibri" pitchFamily="34" charset="-122"/>
                <a:cs typeface="Calibri" pitchFamily="34" charset="-120"/>
              </a:rPr>
              <a:t>Small-budget result REPLICATES: fastText beats +MLM by +3.2 pts [+2.3,+4.1] at n=100 (airline); +MLM significantly WORSE than random init (-1.9 [-2.5,-1.2])</a:t>
            </a:r>
            <a:endParaRPr lang="en-US" sz="1150" dirty="0"/>
          </a:p>
          <a:p>
            <a:pPr marL="342900" indent="-342900">
              <a:spcAft>
                <a:spcPts val="700"/>
              </a:spcAft>
              <a:buSzPct val="100000"/>
              <a:buChar char="•"/>
            </a:pPr>
            <a:r>
              <a:rPr lang="en-US" sz="1150" dirty="0">
                <a:solidFill>
                  <a:srgbClr val="1F2937"/>
                </a:solidFill>
                <a:latin typeface="Calibri" pitchFamily="34" charset="0"/>
                <a:ea typeface="Calibri" pitchFamily="34" charset="-122"/>
                <a:cs typeface="Calibri" pitchFamily="34" charset="-120"/>
              </a:rPr>
              <a:t>Full-data result does NOT replicate: TF-IDF's SST-2 edge vanishes - all 3 families tie once a domain has enough labels</a:t>
            </a:r>
            <a:endParaRPr lang="en-US" sz="1150" dirty="0"/>
          </a:p>
          <a:p>
            <a:pPr marL="342900" indent="-342900">
              <a:spcAft>
                <a:spcPts val="700"/>
              </a:spcAft>
              <a:buSzPct val="100000"/>
              <a:buChar char="•"/>
            </a:pPr>
            <a:r>
              <a:rPr lang="en-US" sz="1150" dirty="0">
                <a:solidFill>
                  <a:srgbClr val="1F2937"/>
                </a:solidFill>
                <a:latin typeface="Calibri" pitchFamily="34" charset="0"/>
                <a:ea typeface="Calibri" pitchFamily="34" charset="-122"/>
                <a:cs typeface="Calibri" pitchFamily="34" charset="-120"/>
              </a:rPr>
              <a:t>Cross-domain transfer costs 15-60 pts everywhere; TF-IDF travels best (62.7% movies-&gt;finance); pre-training does not close the gap</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B9E77"/>
          </a:solidFill>
          <a:ln w="12700">
            <a:solidFill>
              <a:srgbClr val="1B9E77"/>
            </a:solidFill>
            <a:prstDash val="solid"/>
          </a:ln>
        </p:spPr>
      </p:sp>
      <p:sp>
        <p:nvSpPr>
          <p:cNvPr id="3" name="Text 1"/>
          <p:cNvSpPr txBox="1"/>
          <p:nvPr/>
        </p:nvSpPr>
        <p:spPr>
          <a:xfrm>
            <a:off x="411480" y="228600"/>
            <a:ext cx="7863840" cy="548640"/>
          </a:xfrm>
          <a:prstGeom prst="rect">
            <a:avLst/>
          </a:prstGeom>
          <a:noFill/>
          <a:ln/>
        </p:spPr>
        <p:txBody>
          <a:bodyPr wrap="square" lIns="0" tIns="0" rIns="0" bIns="0" rtlCol="0" anchor="ctr"/>
          <a:lstStyle/>
          <a:p>
            <a:pPr indent="0" marL="0">
              <a:buNone/>
            </a:pPr>
            <a:r>
              <a:rPr lang="en-US" sz="2500" b="1" dirty="0">
                <a:solidFill>
                  <a:srgbClr val="14213D"/>
                </a:solidFill>
                <a:latin typeface="Calibri" pitchFamily="34" charset="0"/>
                <a:ea typeface="Calibri" pitchFamily="34" charset="-122"/>
                <a:cs typeface="Calibri" pitchFamily="34" charset="-120"/>
              </a:rPr>
              <a:t>Takeaways</a:t>
            </a:r>
            <a:endParaRPr lang="en-US" sz="2500" dirty="0"/>
          </a:p>
        </p:txBody>
      </p:sp>
      <p:sp>
        <p:nvSpPr>
          <p:cNvPr id="4" name="Text 2"/>
          <p:cNvSpPr txBox="1"/>
          <p:nvPr/>
        </p:nvSpPr>
        <p:spPr>
          <a:xfrm>
            <a:off x="411480" y="758952"/>
            <a:ext cx="8321040" cy="32004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Three findings, one field guide</a:t>
            </a:r>
            <a:endParaRPr lang="en-US" sz="1250" dirty="0"/>
          </a:p>
        </p:txBody>
      </p:sp>
      <p:sp>
        <p:nvSpPr>
          <p:cNvPr id="5" name="Shape 3"/>
          <p:cNvSpPr/>
          <p:nvPr/>
        </p:nvSpPr>
        <p:spPr>
          <a:xfrm>
            <a:off x="411480" y="1188720"/>
            <a:ext cx="2651760" cy="1188720"/>
          </a:xfrm>
          <a:prstGeom prst="roundRect">
            <a:avLst>
              <a:gd name="adj" fmla="val 4615"/>
            </a:avLst>
          </a:prstGeom>
          <a:solidFill>
            <a:srgbClr val="F4F6F8"/>
          </a:solidFill>
          <a:ln w="12700">
            <a:solidFill>
              <a:srgbClr val="F4F6F8"/>
            </a:solidFill>
            <a:prstDash val="solid"/>
          </a:ln>
        </p:spPr>
      </p:sp>
      <p:sp>
        <p:nvSpPr>
          <p:cNvPr id="6" name="Text 4"/>
          <p:cNvSpPr txBox="1"/>
          <p:nvPr/>
        </p:nvSpPr>
        <p:spPr>
          <a:xfrm>
            <a:off x="548640" y="1261872"/>
            <a:ext cx="2377440" cy="621792"/>
          </a:xfrm>
          <a:prstGeom prst="rect">
            <a:avLst/>
          </a:prstGeom>
          <a:noFill/>
          <a:ln/>
        </p:spPr>
        <p:txBody>
          <a:bodyPr wrap="square" lIns="0" tIns="0" rIns="0" bIns="0" rtlCol="0" anchor="ctr"/>
          <a:lstStyle/>
          <a:p>
            <a:pPr indent="0" marL="0">
              <a:buNone/>
            </a:pPr>
            <a:r>
              <a:rPr lang="en-US" sz="2700" b="1" dirty="0">
                <a:solidFill>
                  <a:srgbClr val="D95F02"/>
                </a:solidFill>
                <a:latin typeface="Calibri" pitchFamily="34" charset="0"/>
                <a:ea typeface="Calibri" pitchFamily="34" charset="-122"/>
                <a:cs typeface="Calibri" pitchFamily="34" charset="-120"/>
              </a:rPr>
              <a:t>It depends</a:t>
            </a:r>
            <a:endParaRPr lang="en-US" sz="2700" dirty="0"/>
          </a:p>
        </p:txBody>
      </p:sp>
      <p:sp>
        <p:nvSpPr>
          <p:cNvPr id="7" name="Text 5"/>
          <p:cNvSpPr txBox="1"/>
          <p:nvPr/>
        </p:nvSpPr>
        <p:spPr>
          <a:xfrm>
            <a:off x="548640" y="1883664"/>
            <a:ext cx="2377440" cy="457200"/>
          </a:xfrm>
          <a:prstGeom prst="rect">
            <a:avLst/>
          </a:prstGeom>
          <a:noFill/>
          <a:ln/>
        </p:spPr>
        <p:txBody>
          <a:bodyPr wrap="square" lIns="0" tIns="0" rIns="0" bIns="0" rtlCol="0" anchor="t"/>
          <a:lstStyle/>
          <a:p>
            <a:pPr indent="0" marL="0">
              <a:buNone/>
            </a:pPr>
            <a:r>
              <a:rPr lang="en-US" sz="1100" dirty="0">
                <a:solidFill>
                  <a:srgbClr val="5B6472"/>
                </a:solidFill>
                <a:latin typeface="Calibri" pitchFamily="34" charset="0"/>
                <a:ea typeface="Calibri" pitchFamily="34" charset="-122"/>
                <a:cs typeface="Calibri" pitchFamily="34" charset="-120"/>
              </a:rPr>
              <a:t>fastText wins &lt;1k labels; TF-IDF wins after; MLM never does</a:t>
            </a:r>
            <a:endParaRPr lang="en-US" sz="1100" dirty="0"/>
          </a:p>
        </p:txBody>
      </p:sp>
      <p:sp>
        <p:nvSpPr>
          <p:cNvPr id="8" name="Shape 6"/>
          <p:cNvSpPr/>
          <p:nvPr/>
        </p:nvSpPr>
        <p:spPr>
          <a:xfrm>
            <a:off x="3246120" y="1188720"/>
            <a:ext cx="2651760" cy="1188720"/>
          </a:xfrm>
          <a:prstGeom prst="roundRect">
            <a:avLst>
              <a:gd name="adj" fmla="val 4615"/>
            </a:avLst>
          </a:prstGeom>
          <a:solidFill>
            <a:srgbClr val="F4F6F8"/>
          </a:solidFill>
          <a:ln w="12700">
            <a:solidFill>
              <a:srgbClr val="F4F6F8"/>
            </a:solidFill>
            <a:prstDash val="solid"/>
          </a:ln>
        </p:spPr>
      </p:sp>
      <p:sp>
        <p:nvSpPr>
          <p:cNvPr id="9" name="Text 7"/>
          <p:cNvSpPr txBox="1"/>
          <p:nvPr/>
        </p:nvSpPr>
        <p:spPr>
          <a:xfrm>
            <a:off x="3383280" y="1261872"/>
            <a:ext cx="2377440" cy="621792"/>
          </a:xfrm>
          <a:prstGeom prst="rect">
            <a:avLst/>
          </a:prstGeom>
          <a:noFill/>
          <a:ln/>
        </p:spPr>
        <p:txBody>
          <a:bodyPr wrap="square" lIns="0" tIns="0" rIns="0" bIns="0" rtlCol="0" anchor="ctr"/>
          <a:lstStyle/>
          <a:p>
            <a:pPr indent="0" marL="0">
              <a:buNone/>
            </a:pPr>
            <a:r>
              <a:rPr lang="en-US" sz="2700" b="1" dirty="0">
                <a:solidFill>
                  <a:srgbClr val="1B9E77"/>
                </a:solidFill>
                <a:latin typeface="Calibri" pitchFamily="34" charset="0"/>
                <a:ea typeface="Calibri" pitchFamily="34" charset="-122"/>
                <a:cs typeface="Calibri" pitchFamily="34" charset="-120"/>
              </a:rPr>
              <a:t>Where it fails</a:t>
            </a:r>
            <a:endParaRPr lang="en-US" sz="2700" dirty="0"/>
          </a:p>
        </p:txBody>
      </p:sp>
      <p:sp>
        <p:nvSpPr>
          <p:cNvPr id="10" name="Text 8"/>
          <p:cNvSpPr txBox="1"/>
          <p:nvPr/>
        </p:nvSpPr>
        <p:spPr>
          <a:xfrm>
            <a:off x="3383280" y="1883664"/>
            <a:ext cx="2377440" cy="457200"/>
          </a:xfrm>
          <a:prstGeom prst="rect">
            <a:avLst/>
          </a:prstGeom>
          <a:noFill/>
          <a:ln/>
        </p:spPr>
        <p:txBody>
          <a:bodyPr wrap="square" lIns="0" tIns="0" rIns="0" bIns="0" rtlCol="0" anchor="t"/>
          <a:lstStyle/>
          <a:p>
            <a:pPr indent="0" marL="0">
              <a:buNone/>
            </a:pPr>
            <a:r>
              <a:rPr lang="en-US" sz="1100" dirty="0">
                <a:solidFill>
                  <a:srgbClr val="5B6472"/>
                </a:solidFill>
                <a:latin typeface="Calibri" pitchFamily="34" charset="0"/>
                <a:ea typeface="Calibri" pitchFamily="34" charset="-122"/>
                <a:cs typeface="Calibri" pitchFamily="34" charset="-120"/>
              </a:rPr>
              <a:t>pre-training's damage sits on the EASY sentences</a:t>
            </a:r>
            <a:endParaRPr lang="en-US" sz="1100" dirty="0"/>
          </a:p>
        </p:txBody>
      </p:sp>
      <p:sp>
        <p:nvSpPr>
          <p:cNvPr id="11" name="Shape 9"/>
          <p:cNvSpPr/>
          <p:nvPr/>
        </p:nvSpPr>
        <p:spPr>
          <a:xfrm>
            <a:off x="6080760" y="1188720"/>
            <a:ext cx="2651760" cy="1188720"/>
          </a:xfrm>
          <a:prstGeom prst="roundRect">
            <a:avLst>
              <a:gd name="adj" fmla="val 4615"/>
            </a:avLst>
          </a:prstGeom>
          <a:solidFill>
            <a:srgbClr val="F4F6F8"/>
          </a:solidFill>
          <a:ln w="12700">
            <a:solidFill>
              <a:srgbClr val="F4F6F8"/>
            </a:solidFill>
            <a:prstDash val="solid"/>
          </a:ln>
        </p:spPr>
      </p:sp>
      <p:sp>
        <p:nvSpPr>
          <p:cNvPr id="12" name="Text 10"/>
          <p:cNvSpPr txBox="1"/>
          <p:nvPr/>
        </p:nvSpPr>
        <p:spPr>
          <a:xfrm>
            <a:off x="6217920" y="1261872"/>
            <a:ext cx="2377440" cy="621792"/>
          </a:xfrm>
          <a:prstGeom prst="rect">
            <a:avLst/>
          </a:prstGeom>
          <a:noFill/>
          <a:ln/>
        </p:spPr>
        <p:txBody>
          <a:bodyPr wrap="square" lIns="0" tIns="0" rIns="0" bIns="0" rtlCol="0" anchor="ctr"/>
          <a:lstStyle/>
          <a:p>
            <a:pPr indent="0" marL="0">
              <a:buNone/>
            </a:pPr>
            <a:r>
              <a:rPr lang="en-US" sz="2700" b="1" dirty="0">
                <a:solidFill>
                  <a:srgbClr val="1F78B4"/>
                </a:solidFill>
                <a:latin typeface="Calibri" pitchFamily="34" charset="0"/>
                <a:ea typeface="Calibri" pitchFamily="34" charset="-122"/>
                <a:cs typeface="Calibri" pitchFamily="34" charset="-120"/>
              </a:rPr>
              <a:t>Don't trust it</a:t>
            </a:r>
            <a:endParaRPr lang="en-US" sz="2700" dirty="0"/>
          </a:p>
        </p:txBody>
      </p:sp>
      <p:sp>
        <p:nvSpPr>
          <p:cNvPr id="13" name="Text 11"/>
          <p:cNvSpPr txBox="1"/>
          <p:nvPr/>
        </p:nvSpPr>
        <p:spPr>
          <a:xfrm>
            <a:off x="6217920" y="1883664"/>
            <a:ext cx="2377440" cy="457200"/>
          </a:xfrm>
          <a:prstGeom prst="rect">
            <a:avLst/>
          </a:prstGeom>
          <a:noFill/>
          <a:ln/>
        </p:spPr>
        <p:txBody>
          <a:bodyPr wrap="square" lIns="0" tIns="0" rIns="0" bIns="0" rtlCol="0" anchor="t"/>
          <a:lstStyle/>
          <a:p>
            <a:pPr indent="0" marL="0">
              <a:buNone/>
            </a:pPr>
            <a:r>
              <a:rPr lang="en-US" sz="1100" dirty="0">
                <a:solidFill>
                  <a:srgbClr val="5B6472"/>
                </a:solidFill>
                <a:latin typeface="Calibri" pitchFamily="34" charset="0"/>
                <a:ea typeface="Calibri" pitchFamily="34" charset="-122"/>
                <a:cs typeface="Calibri" pitchFamily="34" charset="-120"/>
              </a:rPr>
              <a:t>no model's confidence tracks ambiguity (AUROC &lt;=0.62)</a:t>
            </a:r>
            <a:endParaRPr lang="en-US" sz="1100" dirty="0"/>
          </a:p>
        </p:txBody>
      </p:sp>
      <p:sp>
        <p:nvSpPr>
          <p:cNvPr id="14" name="Text 12"/>
          <p:cNvSpPr txBox="1"/>
          <p:nvPr/>
        </p:nvSpPr>
        <p:spPr>
          <a:xfrm>
            <a:off x="411480" y="2606040"/>
            <a:ext cx="8229600" cy="2286000"/>
          </a:xfrm>
          <a:prstGeom prst="rect">
            <a:avLst/>
          </a:prstGeom>
          <a:noFill/>
          <a:ln/>
        </p:spPr>
        <p:txBody>
          <a:bodyPr wrap="square" lIns="0" tIns="0" rIns="0" bIns="0" rtlCol="0" anchor="t"/>
          <a:lstStyle/>
          <a:p>
            <a:pPr marL="342900" indent="-342900">
              <a:spcAft>
                <a:spcPts val="700"/>
              </a:spcAft>
              <a:buSzPct val="100000"/>
              <a:buChar char="•"/>
            </a:pPr>
            <a:r>
              <a:rPr lang="en-US" sz="1350" dirty="0">
                <a:solidFill>
                  <a:srgbClr val="1F2937"/>
                </a:solidFill>
                <a:latin typeface="Calibri" pitchFamily="34" charset="0"/>
                <a:ea typeface="Calibri" pitchFamily="34" charset="-122"/>
                <a:cs typeface="Calibri" pitchFamily="34" charset="-120"/>
              </a:rPr>
              <a:t>Field guide: few hundred labels -&gt; fastText; few thousand -&gt; TF-IDF; public checkpoint available -&gt; use it</a:t>
            </a:r>
            <a:endParaRPr lang="en-US" sz="1350" dirty="0"/>
          </a:p>
          <a:p>
            <a:pPr marL="342900" indent="-342900">
              <a:spcAft>
                <a:spcPts val="700"/>
              </a:spcAft>
              <a:buSzPct val="100000"/>
              <a:buChar char="•"/>
            </a:pPr>
            <a:r>
              <a:rPr lang="en-US" sz="1350" dirty="0">
                <a:solidFill>
                  <a:srgbClr val="1F2937"/>
                </a:solidFill>
                <a:latin typeface="Calibri" pitchFamily="34" charset="0"/>
                <a:ea typeface="Calibri" pitchFamily="34" charset="-122"/>
                <a:cs typeface="Calibri" pitchFamily="34" charset="-120"/>
              </a:rPr>
              <a:t>Scale, not the recipe, explains our negative result (BERT-Tiny, same architecture, does help)</a:t>
            </a:r>
            <a:endParaRPr lang="en-US" sz="1350" dirty="0"/>
          </a:p>
          <a:p>
            <a:pPr marL="342900" indent="-342900">
              <a:spcAft>
                <a:spcPts val="700"/>
              </a:spcAft>
              <a:buSzPct val="100000"/>
              <a:buChar char="•"/>
            </a:pPr>
            <a:r>
              <a:rPr lang="en-US" sz="1350" dirty="0">
                <a:solidFill>
                  <a:srgbClr val="1F2937"/>
                </a:solidFill>
                <a:latin typeface="Calibri" pitchFamily="34" charset="0"/>
                <a:ea typeface="Calibri" pitchFamily="34" charset="-122"/>
                <a:cs typeface="Calibri" pitchFamily="34" charset="-120"/>
              </a:rPr>
              <a:t>Next: more public checkpoints (code supports BERT-Mini/Small, MiniLM, TinyBERT, ELECTRA), tuned lr, second dataset</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D95F02"/>
          </a:solidFill>
          <a:ln w="12700">
            <a:solidFill>
              <a:srgbClr val="D95F02"/>
            </a:solidFill>
            <a:prstDash val="solid"/>
          </a:ln>
        </p:spPr>
      </p:sp>
      <p:sp>
        <p:nvSpPr>
          <p:cNvPr id="3" name="Text 1"/>
          <p:cNvSpPr txBox="1"/>
          <p:nvPr/>
        </p:nvSpPr>
        <p:spPr>
          <a:xfrm>
            <a:off x="411480" y="228600"/>
            <a:ext cx="7863840" cy="548640"/>
          </a:xfrm>
          <a:prstGeom prst="rect">
            <a:avLst/>
          </a:prstGeom>
          <a:noFill/>
          <a:ln/>
        </p:spPr>
        <p:txBody>
          <a:bodyPr wrap="square" lIns="0" tIns="0" rIns="0" bIns="0" rtlCol="0" anchor="ctr"/>
          <a:lstStyle/>
          <a:p>
            <a:pPr indent="0" marL="0">
              <a:buNone/>
            </a:pPr>
            <a:r>
              <a:rPr lang="en-US" sz="2500" b="1" dirty="0">
                <a:solidFill>
                  <a:srgbClr val="14213D"/>
                </a:solidFill>
                <a:latin typeface="Calibri" pitchFamily="34" charset="0"/>
                <a:ea typeface="Calibri" pitchFamily="34" charset="-122"/>
                <a:cs typeface="Calibri" pitchFamily="34" charset="-120"/>
              </a:rPr>
              <a:t>Backup: cost of each model</a:t>
            </a:r>
            <a:endParaRPr lang="en-US" sz="2500" dirty="0"/>
          </a:p>
        </p:txBody>
      </p:sp>
      <p:sp>
        <p:nvSpPr>
          <p:cNvPr id="4" name="Text 2"/>
          <p:cNvSpPr txBox="1"/>
          <p:nvPr/>
        </p:nvSpPr>
        <p:spPr>
          <a:xfrm>
            <a:off x="411480" y="758952"/>
            <a:ext cx="8321040" cy="32004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Single CPU thread; seed-0 full-data models</a:t>
            </a:r>
            <a:endParaRPr lang="en-US" sz="1250" dirty="0"/>
          </a:p>
        </p:txBody>
      </p:sp>
      <p:sp>
        <p:nvSpPr>
          <p:cNvPr id="5" name="Text 3"/>
          <p:cNvSpPr txBox="1"/>
          <p:nvPr/>
        </p:nvSpPr>
        <p:spPr>
          <a:xfrm>
            <a:off x="7863840" y="256032"/>
            <a:ext cx="914400" cy="274320"/>
          </a:xfrm>
          <a:prstGeom prst="rect">
            <a:avLst/>
          </a:prstGeom>
          <a:noFill/>
          <a:ln/>
        </p:spPr>
        <p:txBody>
          <a:bodyPr wrap="square" lIns="0" tIns="0" rIns="0" bIns="0" rtlCol="0" anchor="ctr"/>
          <a:lstStyle/>
          <a:p>
            <a:pPr algn="r" indent="0" marL="0">
              <a:buNone/>
            </a:pPr>
            <a:r>
              <a:rPr lang="en-US" sz="1100" b="1" dirty="0">
                <a:solidFill>
                  <a:srgbClr val="D95F02"/>
                </a:solidFill>
                <a:latin typeface="Calibri" pitchFamily="34" charset="0"/>
                <a:ea typeface="Calibri" pitchFamily="34" charset="-122"/>
                <a:cs typeface="Calibri" pitchFamily="34" charset="-120"/>
              </a:rPr>
              <a:t>BACKUP</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11480" y="1280160"/>
          <a:ext cx="8321040" cy="914400"/>
        </p:xfrm>
        <a:graphic>
          <a:graphicData uri="http://schemas.openxmlformats.org/drawingml/2006/table">
            <a:tbl>
              <a:tblPr/>
              <a:tblGrid>
                <a:gridCol w="3017520"/>
                <a:gridCol w="1371600"/>
                <a:gridCol w="1371600"/>
                <a:gridCol w="1280160"/>
                <a:gridCol w="1280160"/>
              </a:tblGrid>
              <a:tr h="384048">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Size (MB)</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Latency (ms)</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Sent./s</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Acc. (%)</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4213D"/>
                    </a:solidFill>
                  </a:tcPr>
                </a:tc>
              </a:tr>
              <a:tr h="384048">
                <a:tc>
                  <a:txBody>
                    <a:bodyPr/>
                    <a:lstStyle/>
                    <a:p>
                      <a:pPr algn="l" indent="0" marL="0">
                        <a:buNone/>
                      </a:pPr>
                      <a:r>
                        <a:rPr lang="en-US" sz="1200" dirty="0">
                          <a:solidFill>
                            <a:srgbClr val="1F2937"/>
                          </a:solidFill>
                          <a:latin typeface="Calibri" pitchFamily="34" charset="0"/>
                          <a:ea typeface="Calibri" pitchFamily="34" charset="-122"/>
                          <a:cs typeface="Calibri" pitchFamily="34" charset="-120"/>
                        </a:rPr>
                        <a:t>Tiny random init, FP32</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8"/>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4.71</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8"/>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1.03</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8"/>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4,914</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8"/>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78.3</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8"/>
                    </a:solidFill>
                  </a:tcPr>
                </a:tc>
              </a:tr>
              <a:tr h="384048">
                <a:tc>
                  <a:txBody>
                    <a:bodyPr/>
                    <a:lstStyle/>
                    <a:p>
                      <a:pPr algn="l" indent="0" marL="0">
                        <a:buNone/>
                      </a:pPr>
                      <a:r>
                        <a:rPr lang="en-US" sz="1200" dirty="0">
                          <a:solidFill>
                            <a:srgbClr val="1F2937"/>
                          </a:solidFill>
                          <a:latin typeface="Calibri" pitchFamily="34" charset="0"/>
                          <a:ea typeface="Calibri" pitchFamily="34" charset="-122"/>
                          <a:cs typeface="Calibri" pitchFamily="34" charset="-120"/>
                        </a:rPr>
                        <a:t>Tiny +MLM, FP32</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4.71</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1.02</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5,073</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76.1</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1F2937"/>
                          </a:solidFill>
                          <a:latin typeface="Calibri" pitchFamily="34" charset="0"/>
                          <a:ea typeface="Calibri" pitchFamily="34" charset="-122"/>
                          <a:cs typeface="Calibri" pitchFamily="34" charset="-120"/>
                        </a:rPr>
                        <a:t>Tiny +MLM, INT8 dynamic</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8"/>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3.54</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8"/>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1.71</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8"/>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3,196</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8"/>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75.9</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8"/>
                    </a:solidFill>
                  </a:tcPr>
                </a:tc>
              </a:tr>
              <a:tr h="384048">
                <a:tc>
                  <a:txBody>
                    <a:bodyPr/>
                    <a:lstStyle/>
                    <a:p>
                      <a:pPr algn="l" indent="0" marL="0">
                        <a:buNone/>
                      </a:pPr>
                      <a:r>
                        <a:rPr lang="en-US" sz="1200" dirty="0">
                          <a:solidFill>
                            <a:srgbClr val="1F2937"/>
                          </a:solidFill>
                          <a:latin typeface="Calibri" pitchFamily="34" charset="0"/>
                          <a:ea typeface="Calibri" pitchFamily="34" charset="-122"/>
                          <a:cs typeface="Calibri" pitchFamily="34" charset="-120"/>
                        </a:rPr>
                        <a:t>TF-IDF + LogReg</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2.72</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0.31</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48,388</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81.3</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1F2937"/>
                          </a:solidFill>
                          <a:latin typeface="Calibri" pitchFamily="34" charset="0"/>
                          <a:ea typeface="Calibri" pitchFamily="34" charset="-122"/>
                          <a:cs typeface="Calibri" pitchFamily="34" charset="-120"/>
                        </a:rPr>
                        <a:t>fastText + LogReg (est.)</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8"/>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~0.5</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8"/>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~0.5</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8"/>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~10,000</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8"/>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71.2</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8"/>
                    </a:solidFill>
                  </a:tcPr>
                </a:tc>
              </a:tr>
            </a:tbl>
          </a:graphicData>
        </a:graphic>
      </p:graphicFrame>
      <p:sp>
        <p:nvSpPr>
          <p:cNvPr id="7" name="Text 4"/>
          <p:cNvSpPr txBox="1"/>
          <p:nvPr/>
        </p:nvSpPr>
        <p:spPr>
          <a:xfrm>
            <a:off x="411480" y="3429000"/>
            <a:ext cx="8229600" cy="128016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1F2937"/>
                </a:solidFill>
                <a:latin typeface="Calibri" pitchFamily="34" charset="0"/>
                <a:ea typeface="Calibri" pitchFamily="34" charset="-122"/>
                <a:cs typeface="Calibri" pitchFamily="34" charset="-120"/>
              </a:rPr>
              <a:t>INT8: -25% file size, accuracy unchanged within noise (single model)</a:t>
            </a:r>
            <a:endParaRPr lang="en-US" sz="1300" dirty="0"/>
          </a:p>
          <a:p>
            <a:pPr marL="342900" indent="-342900">
              <a:spcAft>
                <a:spcPts val="700"/>
              </a:spcAft>
              <a:buSzPct val="100000"/>
              <a:buChar char="•"/>
            </a:pPr>
            <a:r>
              <a:rPr lang="en-US" sz="1300" dirty="0">
                <a:solidFill>
                  <a:srgbClr val="1F2937"/>
                </a:solidFill>
                <a:latin typeface="Calibri" pitchFamily="34" charset="0"/>
                <a:ea typeface="Calibri" pitchFamily="34" charset="-122"/>
                <a:cs typeface="Calibri" pitchFamily="34" charset="-120"/>
              </a:rPr>
              <a:t>fastText row is an order-of-magnitude estimate, not separately measured</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D95F02"/>
          </a:solidFill>
          <a:ln w="12700">
            <a:solidFill>
              <a:srgbClr val="D95F02"/>
            </a:solidFill>
            <a:prstDash val="solid"/>
          </a:ln>
        </p:spPr>
      </p:sp>
      <p:sp>
        <p:nvSpPr>
          <p:cNvPr id="3" name="Text 1"/>
          <p:cNvSpPr txBox="1"/>
          <p:nvPr/>
        </p:nvSpPr>
        <p:spPr>
          <a:xfrm>
            <a:off x="411480" y="228600"/>
            <a:ext cx="7863840" cy="548640"/>
          </a:xfrm>
          <a:prstGeom prst="rect">
            <a:avLst/>
          </a:prstGeom>
          <a:noFill/>
          <a:ln/>
        </p:spPr>
        <p:txBody>
          <a:bodyPr wrap="square" lIns="0" tIns="0" rIns="0" bIns="0" rtlCol="0" anchor="ctr"/>
          <a:lstStyle/>
          <a:p>
            <a:pPr indent="0" marL="0">
              <a:buNone/>
            </a:pPr>
            <a:r>
              <a:rPr lang="en-US" sz="2500" b="1" dirty="0">
                <a:solidFill>
                  <a:srgbClr val="14213D"/>
                </a:solidFill>
                <a:latin typeface="Calibri" pitchFamily="34" charset="0"/>
                <a:ea typeface="Calibri" pitchFamily="34" charset="-122"/>
                <a:cs typeface="Calibri" pitchFamily="34" charset="-120"/>
              </a:rPr>
              <a:t>Backup: statistical evidence</a:t>
            </a:r>
            <a:endParaRPr lang="en-US" sz="2500" dirty="0"/>
          </a:p>
        </p:txBody>
      </p:sp>
      <p:sp>
        <p:nvSpPr>
          <p:cNvPr id="4" name="Text 2"/>
          <p:cNvSpPr txBox="1"/>
          <p:nvPr/>
        </p:nvSpPr>
        <p:spPr>
          <a:xfrm>
            <a:off x="411480" y="758952"/>
            <a:ext cx="8321040" cy="32004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Paired bootstrap, 95% CI over test sentences, seeds pooled; * = CI excludes 0</a:t>
            </a:r>
            <a:endParaRPr lang="en-US" sz="1250" dirty="0"/>
          </a:p>
        </p:txBody>
      </p:sp>
      <p:sp>
        <p:nvSpPr>
          <p:cNvPr id="5" name="Text 3"/>
          <p:cNvSpPr txBox="1"/>
          <p:nvPr/>
        </p:nvSpPr>
        <p:spPr>
          <a:xfrm>
            <a:off x="7863840" y="256032"/>
            <a:ext cx="914400" cy="274320"/>
          </a:xfrm>
          <a:prstGeom prst="rect">
            <a:avLst/>
          </a:prstGeom>
          <a:noFill/>
          <a:ln/>
        </p:spPr>
        <p:txBody>
          <a:bodyPr wrap="square" lIns="0" tIns="0" rIns="0" bIns="0" rtlCol="0" anchor="ctr"/>
          <a:lstStyle/>
          <a:p>
            <a:pPr algn="r" indent="0" marL="0">
              <a:buNone/>
            </a:pPr>
            <a:r>
              <a:rPr lang="en-US" sz="1100" b="1" dirty="0">
                <a:solidFill>
                  <a:srgbClr val="D95F02"/>
                </a:solidFill>
                <a:latin typeface="Calibri" pitchFamily="34" charset="0"/>
                <a:ea typeface="Calibri" pitchFamily="34" charset="-122"/>
                <a:cs typeface="Calibri" pitchFamily="34" charset="-120"/>
              </a:rPr>
              <a:t>BACKUP</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11480" y="1280160"/>
          <a:ext cx="8321040" cy="914400"/>
        </p:xfrm>
        <a:graphic>
          <a:graphicData uri="http://schemas.openxmlformats.org/drawingml/2006/table">
            <a:tbl>
              <a:tblPr/>
              <a:tblGrid>
                <a:gridCol w="4206240"/>
                <a:gridCol w="2057400"/>
                <a:gridCol w="2057400"/>
              </a:tblGrid>
              <a:tr h="50292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Comparison</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n=1000</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n=6920</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4213D"/>
                    </a:solidFill>
                  </a:tcPr>
                </a:tc>
              </a:tr>
              <a:tr h="502920">
                <a:tc>
                  <a:txBody>
                    <a:bodyPr/>
                    <a:lstStyle/>
                    <a:p>
                      <a:pPr algn="l" indent="0" marL="0">
                        <a:buNone/>
                      </a:pPr>
                      <a:r>
                        <a:rPr lang="en-US" sz="1200" dirty="0">
                          <a:solidFill>
                            <a:srgbClr val="1F2937"/>
                          </a:solidFill>
                          <a:latin typeface="Calibri" pitchFamily="34" charset="0"/>
                          <a:ea typeface="Calibri" pitchFamily="34" charset="-122"/>
                          <a:cs typeface="Calibri" pitchFamily="34" charset="-120"/>
                        </a:rPr>
                        <a:t>+MLM - random init, STRONG sentences</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8"/>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-4.7* [-7.2,-2.2]</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8"/>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-2.6* [-4.8,-0.2]</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8"/>
                    </a:solidFill>
                  </a:tcPr>
                </a:tc>
              </a:tr>
              <a:tr h="502920">
                <a:tc>
                  <a:txBody>
                    <a:bodyPr/>
                    <a:lstStyle/>
                    <a:p>
                      <a:pPr algn="l" indent="0" marL="0">
                        <a:buNone/>
                      </a:pPr>
                      <a:r>
                        <a:rPr lang="en-US" sz="1200" dirty="0">
                          <a:solidFill>
                            <a:srgbClr val="1F2937"/>
                          </a:solidFill>
                          <a:latin typeface="Calibri" pitchFamily="34" charset="0"/>
                          <a:ea typeface="Calibri" pitchFamily="34" charset="-122"/>
                          <a:cs typeface="Calibri" pitchFamily="34" charset="-120"/>
                        </a:rPr>
                        <a:t>+MLM - random init, WEAK sentences</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-1.3 [-3.4,+0.8]</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-0.1 [-2.2,+1.9]</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502920">
                <a:tc>
                  <a:txBody>
                    <a:bodyPr/>
                    <a:lstStyle/>
                    <a:p>
                      <a:pPr algn="l" indent="0" marL="0">
                        <a:buNone/>
                      </a:pPr>
                      <a:r>
                        <a:rPr lang="en-US" sz="1200" dirty="0">
                          <a:solidFill>
                            <a:srgbClr val="1F2937"/>
                          </a:solidFill>
                          <a:latin typeface="Calibri" pitchFamily="34" charset="0"/>
                          <a:ea typeface="Calibri" pitchFamily="34" charset="-122"/>
                          <a:cs typeface="Calibri" pitchFamily="34" charset="-120"/>
                        </a:rPr>
                        <a:t>+MLM - random init, TF-IDF LR (overall)</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8"/>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-2.5* [-4.2,-1.0]</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8"/>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-1.0 [-2.6,+0.5]</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6F8"/>
                    </a:solidFill>
                  </a:tcPr>
                </a:tc>
              </a:tr>
            </a:tbl>
          </a:graphicData>
        </a:graphic>
      </p:graphicFrame>
      <p:sp>
        <p:nvSpPr>
          <p:cNvPr id="7" name="Text 4"/>
          <p:cNvSpPr txBox="1"/>
          <p:nvPr/>
        </p:nvSpPr>
        <p:spPr>
          <a:xfrm>
            <a:off x="411480" y="3291840"/>
            <a:ext cx="8229600" cy="128016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1F2937"/>
                </a:solidFill>
                <a:latin typeface="Calibri" pitchFamily="34" charset="0"/>
                <a:ea typeface="Calibri" pitchFamily="34" charset="-122"/>
                <a:cs typeface="Calibri" pitchFamily="34" charset="-120"/>
              </a:rPr>
              <a:t>Interaction (strong - weak) at n=1000: -3.5 [-6.7,-0.3], CI excludes 0</a:t>
            </a:r>
            <a:endParaRPr lang="en-US" sz="1300" dirty="0"/>
          </a:p>
          <a:p>
            <a:pPr marL="342900" indent="-342900">
              <a:spcAft>
                <a:spcPts val="700"/>
              </a:spcAft>
              <a:buSzPct val="100000"/>
              <a:buChar char="•"/>
            </a:pPr>
            <a:r>
              <a:rPr lang="en-US" sz="1300" dirty="0">
                <a:solidFill>
                  <a:srgbClr val="1F2937"/>
                </a:solidFill>
                <a:latin typeface="Calibri" pitchFamily="34" charset="0"/>
                <a:ea typeface="Calibri" pitchFamily="34" charset="-122"/>
                <a:cs typeface="Calibri" pitchFamily="34" charset="-120"/>
              </a:rPr>
              <a:t>Method: resample 1,821 test sentences 2,000 times; correctness difference averaged over seeds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D95F02"/>
          </a:solidFill>
          <a:ln w="12700">
            <a:solidFill>
              <a:srgbClr val="D95F02"/>
            </a:solidFill>
            <a:prstDash val="solid"/>
          </a:ln>
        </p:spPr>
      </p:sp>
      <p:sp>
        <p:nvSpPr>
          <p:cNvPr id="3" name="Text 1"/>
          <p:cNvSpPr txBox="1"/>
          <p:nvPr/>
        </p:nvSpPr>
        <p:spPr>
          <a:xfrm>
            <a:off x="411480" y="228600"/>
            <a:ext cx="7863840" cy="548640"/>
          </a:xfrm>
          <a:prstGeom prst="rect">
            <a:avLst/>
          </a:prstGeom>
          <a:noFill/>
          <a:ln/>
        </p:spPr>
        <p:txBody>
          <a:bodyPr wrap="square" lIns="0" tIns="0" rIns="0" bIns="0" rtlCol="0" anchor="ctr"/>
          <a:lstStyle/>
          <a:p>
            <a:pPr indent="0" marL="0">
              <a:buNone/>
            </a:pPr>
            <a:r>
              <a:rPr lang="en-US" sz="2500" b="1" dirty="0">
                <a:solidFill>
                  <a:srgbClr val="14213D"/>
                </a:solidFill>
                <a:latin typeface="Calibri" pitchFamily="34" charset="0"/>
                <a:ea typeface="Calibri" pitchFamily="34" charset="-122"/>
                <a:cs typeface="Calibri" pitchFamily="34" charset="-120"/>
              </a:rPr>
              <a:t>Backup: limitations and threats to validity</a:t>
            </a:r>
            <a:endParaRPr lang="en-US" sz="2500" dirty="0"/>
          </a:p>
        </p:txBody>
      </p:sp>
      <p:sp>
        <p:nvSpPr>
          <p:cNvPr id="4" name="Text 2"/>
          <p:cNvSpPr txBox="1"/>
          <p:nvPr/>
        </p:nvSpPr>
        <p:spPr>
          <a:xfrm>
            <a:off x="411480" y="758952"/>
            <a:ext cx="8321040" cy="32004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What the results do and do not show</a:t>
            </a:r>
            <a:endParaRPr lang="en-US" sz="1250" dirty="0"/>
          </a:p>
        </p:txBody>
      </p:sp>
      <p:sp>
        <p:nvSpPr>
          <p:cNvPr id="5" name="Text 3"/>
          <p:cNvSpPr txBox="1"/>
          <p:nvPr/>
        </p:nvSpPr>
        <p:spPr>
          <a:xfrm>
            <a:off x="7863840" y="256032"/>
            <a:ext cx="914400" cy="274320"/>
          </a:xfrm>
          <a:prstGeom prst="rect">
            <a:avLst/>
          </a:prstGeom>
          <a:noFill/>
          <a:ln/>
        </p:spPr>
        <p:txBody>
          <a:bodyPr wrap="square" lIns="0" tIns="0" rIns="0" bIns="0" rtlCol="0" anchor="ctr"/>
          <a:lstStyle/>
          <a:p>
            <a:pPr algn="r" indent="0" marL="0">
              <a:buNone/>
            </a:pPr>
            <a:r>
              <a:rPr lang="en-US" sz="1100" b="1" dirty="0">
                <a:solidFill>
                  <a:srgbClr val="D95F02"/>
                </a:solidFill>
                <a:latin typeface="Calibri" pitchFamily="34" charset="0"/>
                <a:ea typeface="Calibri" pitchFamily="34" charset="-122"/>
                <a:cs typeface="Calibri" pitchFamily="34" charset="-120"/>
              </a:rPr>
              <a:t>BACKUP</a:t>
            </a:r>
            <a:endParaRPr lang="en-US" sz="1100" dirty="0"/>
          </a:p>
        </p:txBody>
      </p:sp>
      <p:sp>
        <p:nvSpPr>
          <p:cNvPr id="6" name="Text 4"/>
          <p:cNvSpPr txBox="1"/>
          <p:nvPr/>
        </p:nvSpPr>
        <p:spPr>
          <a:xfrm>
            <a:off x="411480" y="1234440"/>
            <a:ext cx="8229600" cy="3474720"/>
          </a:xfrm>
          <a:prstGeom prst="rect">
            <a:avLst/>
          </a:prstGeom>
          <a:noFill/>
          <a:ln/>
        </p:spPr>
        <p:txBody>
          <a:bodyPr wrap="square" lIns="0" tIns="0" rIns="0" bIns="0" rtlCol="0" anchor="t"/>
          <a:lstStyle/>
          <a:p>
            <a:pPr marL="342900" indent="-342900">
              <a:spcAft>
                <a:spcPts val="700"/>
              </a:spcAft>
              <a:buSzPct val="100000"/>
              <a:buChar char="•"/>
            </a:pPr>
            <a:r>
              <a:rPr lang="en-US" sz="1350" dirty="0">
                <a:solidFill>
                  <a:srgbClr val="1F2937"/>
                </a:solidFill>
                <a:latin typeface="Calibri" pitchFamily="34" charset="0"/>
                <a:ea typeface="Calibri" pitchFamily="34" charset="-122"/>
                <a:cs typeface="Calibri" pitchFamily="34" charset="-120"/>
              </a:rPr>
              <a:t>Ambiguity proxy is SST-5 polarity STRENGTH, not annotator disagreement; 'weak' covers 62.8% of sentences</a:t>
            </a:r>
            <a:endParaRPr lang="en-US" sz="1350" dirty="0"/>
          </a:p>
          <a:p>
            <a:pPr marL="342900" indent="-342900">
              <a:spcAft>
                <a:spcPts val="700"/>
              </a:spcAft>
              <a:buSzPct val="100000"/>
              <a:buChar char="•"/>
            </a:pPr>
            <a:r>
              <a:rPr lang="en-US" sz="1350" dirty="0">
                <a:solidFill>
                  <a:srgbClr val="1F2937"/>
                </a:solidFill>
                <a:latin typeface="Calibri" pitchFamily="34" charset="0"/>
                <a:ea typeface="Calibri" pitchFamily="34" charset="-122"/>
                <a:cs typeface="Calibri" pitchFamily="34" charset="-120"/>
              </a:rPr>
              <a:t>Only 2 public checkpoints (BERT-Tiny, DistilBERT), untuned learning rates, predictions not stored (no paired tests for them)</a:t>
            </a:r>
            <a:endParaRPr lang="en-US" sz="1350" dirty="0"/>
          </a:p>
          <a:p>
            <a:pPr marL="342900" indent="-342900">
              <a:spcAft>
                <a:spcPts val="700"/>
              </a:spcAft>
              <a:buSzPct val="100000"/>
              <a:buChar char="•"/>
            </a:pPr>
            <a:r>
              <a:rPr lang="en-US" sz="1350" dirty="0">
                <a:solidFill>
                  <a:srgbClr val="1F2937"/>
                </a:solidFill>
                <a:latin typeface="Calibri" pitchFamily="34" charset="0"/>
                <a:ea typeface="Calibri" pitchFamily="34" charset="-122"/>
                <a:cs typeface="Calibri" pitchFamily="34" charset="-120"/>
              </a:rPr>
              <a:t>Embedding families untuned (fixed dim/epochs/pooling); no CNN/BiLSTM baseline</a:t>
            </a:r>
            <a:endParaRPr lang="en-US" sz="1350" dirty="0"/>
          </a:p>
          <a:p>
            <a:pPr marL="342900" indent="-342900">
              <a:spcAft>
                <a:spcPts val="700"/>
              </a:spcAft>
              <a:buSzPct val="100000"/>
              <a:buChar char="•"/>
            </a:pPr>
            <a:r>
              <a:rPr lang="en-US" sz="1350" dirty="0">
                <a:solidFill>
                  <a:srgbClr val="1F2937"/>
                </a:solidFill>
                <a:latin typeface="Calibri" pitchFamily="34" charset="0"/>
                <a:ea typeface="Calibri" pitchFamily="34" charset="-122"/>
                <a:cs typeface="Calibri" pitchFamily="34" charset="-120"/>
              </a:rPr>
              <a:t>3 seeds; full 872-sentence dev set for early stopping even at n=100</a:t>
            </a:r>
            <a:endParaRPr lang="en-US" sz="1350" dirty="0"/>
          </a:p>
          <a:p>
            <a:pPr marL="342900" indent="-342900">
              <a:spcAft>
                <a:spcPts val="700"/>
              </a:spcAft>
              <a:buSzPct val="100000"/>
              <a:buChar char="•"/>
            </a:pPr>
            <a:r>
              <a:rPr lang="en-US" sz="1350" dirty="0">
                <a:solidFill>
                  <a:srgbClr val="1F2937"/>
                </a:solidFill>
                <a:latin typeface="Calibri" pitchFamily="34" charset="0"/>
                <a:ea typeface="Calibri" pitchFamily="34" charset="-122"/>
                <a:cs typeface="Calibri" pitchFamily="34" charset="-120"/>
              </a:rPr>
              <a:t>One task, one dataset, one language (SST-2, English)</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D95F02"/>
          </a:solidFill>
          <a:ln w="12700">
            <a:solidFill>
              <a:srgbClr val="D95F02"/>
            </a:solidFill>
            <a:prstDash val="solid"/>
          </a:ln>
        </p:spPr>
      </p:sp>
      <p:sp>
        <p:nvSpPr>
          <p:cNvPr id="3" name="Text 1"/>
          <p:cNvSpPr txBox="1"/>
          <p:nvPr/>
        </p:nvSpPr>
        <p:spPr>
          <a:xfrm>
            <a:off x="411480" y="228600"/>
            <a:ext cx="7863840" cy="548640"/>
          </a:xfrm>
          <a:prstGeom prst="rect">
            <a:avLst/>
          </a:prstGeom>
          <a:noFill/>
          <a:ln/>
        </p:spPr>
        <p:txBody>
          <a:bodyPr wrap="square" lIns="0" tIns="0" rIns="0" bIns="0" rtlCol="0" anchor="ctr"/>
          <a:lstStyle/>
          <a:p>
            <a:pPr indent="0" marL="0">
              <a:buNone/>
            </a:pPr>
            <a:r>
              <a:rPr lang="en-US" sz="2500" b="1" dirty="0">
                <a:solidFill>
                  <a:srgbClr val="14213D"/>
                </a:solidFill>
                <a:latin typeface="Calibri" pitchFamily="34" charset="0"/>
                <a:ea typeface="Calibri" pitchFamily="34" charset="-122"/>
                <a:cs typeface="Calibri" pitchFamily="34" charset="-120"/>
              </a:rPr>
              <a:t>Backup: reproducibility</a:t>
            </a:r>
            <a:endParaRPr lang="en-US" sz="2500" dirty="0"/>
          </a:p>
        </p:txBody>
      </p:sp>
      <p:sp>
        <p:nvSpPr>
          <p:cNvPr id="4" name="Text 2"/>
          <p:cNvSpPr txBox="1"/>
          <p:nvPr/>
        </p:nvSpPr>
        <p:spPr>
          <a:xfrm>
            <a:off x="411480" y="758952"/>
            <a:ext cx="8321040" cy="32004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Everything regenerates from logged runs</a:t>
            </a:r>
            <a:endParaRPr lang="en-US" sz="1250" dirty="0"/>
          </a:p>
        </p:txBody>
      </p:sp>
      <p:sp>
        <p:nvSpPr>
          <p:cNvPr id="5" name="Text 3"/>
          <p:cNvSpPr txBox="1"/>
          <p:nvPr/>
        </p:nvSpPr>
        <p:spPr>
          <a:xfrm>
            <a:off x="7863840" y="256032"/>
            <a:ext cx="914400" cy="274320"/>
          </a:xfrm>
          <a:prstGeom prst="rect">
            <a:avLst/>
          </a:prstGeom>
          <a:noFill/>
          <a:ln/>
        </p:spPr>
        <p:txBody>
          <a:bodyPr wrap="square" lIns="0" tIns="0" rIns="0" bIns="0" rtlCol="0" anchor="ctr"/>
          <a:lstStyle/>
          <a:p>
            <a:pPr algn="r" indent="0" marL="0">
              <a:buNone/>
            </a:pPr>
            <a:r>
              <a:rPr lang="en-US" sz="1100" b="1" dirty="0">
                <a:solidFill>
                  <a:srgbClr val="D95F02"/>
                </a:solidFill>
                <a:latin typeface="Calibri" pitchFamily="34" charset="0"/>
                <a:ea typeface="Calibri" pitchFamily="34" charset="-122"/>
                <a:cs typeface="Calibri" pitchFamily="34" charset="-120"/>
              </a:rPr>
              <a:t>BACKUP</a:t>
            </a:r>
            <a:endParaRPr lang="en-US" sz="1100" dirty="0"/>
          </a:p>
        </p:txBody>
      </p:sp>
      <p:sp>
        <p:nvSpPr>
          <p:cNvPr id="6" name="Shape 4"/>
          <p:cNvSpPr/>
          <p:nvPr/>
        </p:nvSpPr>
        <p:spPr>
          <a:xfrm>
            <a:off x="411480" y="1280160"/>
            <a:ext cx="8321040" cy="2286000"/>
          </a:xfrm>
          <a:prstGeom prst="rect">
            <a:avLst/>
          </a:prstGeom>
          <a:solidFill>
            <a:srgbClr val="111827"/>
          </a:solidFill>
          <a:ln w="12700">
            <a:solidFill>
              <a:srgbClr val="111827"/>
            </a:solidFill>
            <a:prstDash val="solid"/>
          </a:ln>
        </p:spPr>
      </p:sp>
      <p:sp>
        <p:nvSpPr>
          <p:cNvPr id="7" name="Text 5"/>
          <p:cNvSpPr txBox="1"/>
          <p:nvPr/>
        </p:nvSpPr>
        <p:spPr>
          <a:xfrm>
            <a:off x="640080" y="1417320"/>
            <a:ext cx="7863840" cy="2011680"/>
          </a:xfrm>
          <a:prstGeom prst="rect">
            <a:avLst/>
          </a:prstGeom>
          <a:noFill/>
          <a:ln/>
        </p:spPr>
        <p:txBody>
          <a:bodyPr wrap="square" lIns="0" tIns="0" rIns="0" bIns="0" rtlCol="0" anchor="t"/>
          <a:lstStyle/>
          <a:p>
            <a:pPr indent="0" marL="0">
              <a:spcAft>
                <a:spcPts val="700"/>
              </a:spcAft>
              <a:buNone/>
            </a:pPr>
            <a:r>
              <a:rPr lang="en-US" sz="1250" dirty="0">
                <a:solidFill>
                  <a:srgbClr val="E5E7EB"/>
                </a:solidFill>
                <a:latin typeface="Consolas" pitchFamily="34" charset="0"/>
                <a:ea typeface="Consolas" pitchFamily="34" charset="-122"/>
                <a:cs typeface="Consolas" pitchFamily="34" charset="-120"/>
              </a:rPr>
              <a:t>bash run_all.sh                      # clean run of the whole study</a:t>
            </a:r>
            <a:endParaRPr lang="en-US" sz="1250" dirty="0"/>
          </a:p>
          <a:p>
            <a:pPr indent="0" marL="0">
              <a:spcAft>
                <a:spcPts val="700"/>
              </a:spcAft>
              <a:buNone/>
            </a:pPr>
            <a:r>
              <a:rPr lang="en-US" sz="1250" dirty="0">
                <a:solidFill>
                  <a:srgbClr val="E5E7EB"/>
                </a:solidFill>
                <a:latin typeface="Consolas" pitchFamily="34" charset="0"/>
                <a:ea typeface="Consolas" pitchFamily="34" charset="-122"/>
                <a:cs typeface="Consolas" pitchFamily="34" charset="-120"/>
              </a:rPr>
              <a:t>python run_experiments.py --stage families  # VADER, SVM, char n-gram, word2vec/fastText</a:t>
            </a:r>
            <a:endParaRPr lang="en-US" sz="1250" dirty="0"/>
          </a:p>
          <a:p>
            <a:pPr indent="0" marL="0">
              <a:spcAft>
                <a:spcPts val="700"/>
              </a:spcAft>
              <a:buNone/>
            </a:pPr>
            <a:r>
              <a:rPr lang="en-US" sz="1250" dirty="0">
                <a:solidFill>
                  <a:srgbClr val="E5E7EB"/>
                </a:solidFill>
                <a:latin typeface="Consolas" pitchFamily="34" charset="0"/>
                <a:ea typeface="Consolas" pitchFamily="34" charset="-122"/>
                <a:cs typeface="Consolas" pitchFamily="34" charset="-120"/>
              </a:rPr>
              <a:t>python ambiguity.py                  # SST-5 strata, AUROC, ECE</a:t>
            </a:r>
            <a:endParaRPr lang="en-US" sz="1250" dirty="0"/>
          </a:p>
          <a:p>
            <a:pPr indent="0" marL="0">
              <a:spcAft>
                <a:spcPts val="700"/>
              </a:spcAft>
              <a:buNone/>
            </a:pPr>
            <a:r>
              <a:rPr lang="en-US" sz="1250" dirty="0">
                <a:solidFill>
                  <a:srgbClr val="E5E7EB"/>
                </a:solidFill>
                <a:latin typeface="Consolas" pitchFamily="34" charset="0"/>
                <a:ea typeface="Consolas" pitchFamily="34" charset="-122"/>
                <a:cs typeface="Consolas" pitchFamily="34" charset="-120"/>
              </a:rPr>
              <a:t>python hf_benchmark.py --models ladder --tune  # size ladder, tuned lr</a:t>
            </a:r>
            <a:endParaRPr lang="en-US" sz="1250" dirty="0"/>
          </a:p>
        </p:txBody>
      </p:sp>
      <p:sp>
        <p:nvSpPr>
          <p:cNvPr id="8" name="Text 6"/>
          <p:cNvSpPr txBox="1"/>
          <p:nvPr/>
        </p:nvSpPr>
        <p:spPr>
          <a:xfrm>
            <a:off x="411480" y="3749040"/>
            <a:ext cx="8229600" cy="109728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1F2937"/>
                </a:solidFill>
                <a:latin typeface="Calibri" pitchFamily="34" charset="0"/>
                <a:ea typeface="Calibri" pitchFamily="34" charset="-122"/>
                <a:cs typeface="Calibri" pitchFamily="34" charset="-120"/>
              </a:rPr>
              <a:t>Resumable, stored predictions, paired statistics throughout</a:t>
            </a:r>
            <a:endParaRPr lang="en-US" sz="1300" dirty="0"/>
          </a:p>
          <a:p>
            <a:pPr marL="342900" indent="-342900">
              <a:spcAft>
                <a:spcPts val="700"/>
              </a:spcAft>
              <a:buSzPct val="100000"/>
              <a:buChar char="•"/>
            </a:pPr>
            <a:r>
              <a:rPr lang="en-US" sz="1300" dirty="0">
                <a:solidFill>
                  <a:srgbClr val="1F2937"/>
                </a:solidFill>
                <a:latin typeface="Calibri" pitchFamily="34" charset="0"/>
                <a:ea typeface="Calibri" pitchFamily="34" charset="-122"/>
                <a:cs typeface="Calibri" pitchFamily="34" charset="-120"/>
              </a:rPr>
              <a:t>Deliverables: code, technical docs, main report, 2-page report, ACM paper, this deck</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Same Words, Different Bets</dc:title>
  <dc:subject>PptxGenJS Presentation</dc:subject>
  <dc:creator>PptxGenJS</dc:creator>
  <cp:lastModifiedBy>PptxGenJS</cp:lastModifiedBy>
  <cp:revision>1</cp:revision>
  <dcterms:created xsi:type="dcterms:W3CDTF">2026-10-04T20:03:55Z</dcterms:created>
  <dcterms:modified xsi:type="dcterms:W3CDTF">2026-10-04T20:03:55Z</dcterms:modified>
</cp:coreProperties>
</file>